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 varScale="1">
        <p:scale>
          <a:sx n="106" d="100"/>
          <a:sy n="106" d="100"/>
        </p:scale>
        <p:origin x="-714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428AF3">
            <a:alpha val="63921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1">
            <a:off x="9949321" y="723899"/>
            <a:ext cx="1553097" cy="372588"/>
          </a:xfrm>
          <a:prstGeom prst="rect">
            <a:avLst/>
          </a:prstGeom>
          <a:ln>
            <a:prstDash val="solid"/>
            <a:headEnd type="none"/>
            <a:tailEnd type="none"/>
          </a:ln>
        </p:spPr>
      </p:sp>
      <p:sp>
        <p:nvSpPr>
          <p:cNvPr id="4" name="AutoShape 4"/>
          <p:cNvSpPr/>
          <p:nvPr/>
        </p:nvSpPr>
        <p:spPr>
          <a:xfrm flipH="1">
            <a:off x="5414512" y="765915"/>
            <a:ext cx="484428" cy="246221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5" name="AutoShape 5"/>
          <p:cNvSpPr/>
          <p:nvPr/>
        </p:nvSpPr>
        <p:spPr>
          <a:xfrm flipH="1">
            <a:off x="3846481" y="765915"/>
            <a:ext cx="603051" cy="246221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6" name="AutoShape 6"/>
          <p:cNvSpPr/>
          <p:nvPr/>
        </p:nvSpPr>
        <p:spPr>
          <a:xfrm flipH="1">
            <a:off x="2278451" y="765915"/>
            <a:ext cx="603050" cy="246221"/>
          </a:xfrm>
          <a:prstGeom prst="rect">
            <a:avLst/>
          </a:prstGeom>
          <a:ln>
            <a:headEnd type="none"/>
            <a:tailEnd type="none"/>
          </a:ln>
        </p:spPr>
      </p:sp>
      <p:sp>
        <p:nvSpPr>
          <p:cNvPr id="7" name="AutoShape 7"/>
          <p:cNvSpPr/>
          <p:nvPr/>
        </p:nvSpPr>
        <p:spPr>
          <a:xfrm flipH="1">
            <a:off x="689582" y="765914"/>
            <a:ext cx="623889" cy="246221"/>
          </a:xfrm>
          <a:prstGeom prst="rect">
            <a:avLst/>
          </a:prstGeom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6158" y="417830"/>
            <a:ext cx="11399684" cy="574675"/>
            <a:chOff x="119216" y="448525"/>
            <a:chExt cx="11399684" cy="574675"/>
          </a:xfrm>
        </p:grpSpPr>
        <p:sp>
          <p:nvSpPr>
            <p:cNvPr id="3" name="AutoShape 3"/>
            <p:cNvSpPr/>
            <p:nvPr/>
          </p:nvSpPr>
          <p:spPr>
            <a:xfrm>
              <a:off x="119216" y="448525"/>
              <a:ext cx="11399684" cy="574675"/>
            </a:xfrm>
            <a:custGeom>
              <a:avLst/>
              <a:gdLst/>
              <a:ahLst/>
              <a:cxnLst/>
              <a:rect l="l" t="t" r="r" b="b"/>
              <a:pathLst>
                <a:path w="6842" h="362">
                  <a:moveTo>
                    <a:pt x="6738" y="0"/>
                  </a:moveTo>
                  <a:lnTo>
                    <a:pt x="104" y="0"/>
                  </a:lnTo>
                  <a:lnTo>
                    <a:pt x="0" y="181"/>
                  </a:lnTo>
                  <a:lnTo>
                    <a:pt x="104" y="362"/>
                  </a:lnTo>
                  <a:lnTo>
                    <a:pt x="6738" y="362"/>
                  </a:lnTo>
                  <a:lnTo>
                    <a:pt x="6842" y="181"/>
                  </a:lnTo>
                  <a:lnTo>
                    <a:pt x="6738" y="0"/>
                  </a:lnTo>
                  <a:close/>
                </a:path>
              </a:pathLst>
            </a:custGeom>
            <a:gradFill>
              <a:gsLst>
                <a:gs pos="0">
                  <a:srgbClr val="428AF3">
                    <a:alpha val="40000"/>
                  </a:srgbClr>
                </a:gs>
                <a:gs pos="100000">
                  <a:srgbClr val="428AF3">
                    <a:alpha val="10196"/>
                  </a:srgbClr>
                </a:gs>
              </a:gsLst>
              <a:lin ang="2700000"/>
            </a:gradFill>
            <a:ln>
              <a:gradFill>
                <a:gsLst>
                  <a:gs pos="0">
                    <a:srgbClr val="428AF3">
                      <a:alpha val="40000"/>
                    </a:srgbClr>
                  </a:gs>
                  <a:gs pos="100000">
                    <a:srgbClr val="428AF3">
                      <a:alpha val="10196"/>
                    </a:srgbClr>
                  </a:gs>
                </a:gsLst>
                <a:lin ang="0"/>
              </a:gradFill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979150" y="612491"/>
              <a:ext cx="376297" cy="246742"/>
            </a:xfrm>
            <a:prstGeom prst="rightArrow">
              <a:avLst>
                <a:gd name="adj1" fmla="val 50000"/>
                <a:gd name="adj2" fmla="val 67330"/>
              </a:avLst>
            </a:prstGeom>
            <a:gradFill>
              <a:gsLst>
                <a:gs pos="18000">
                  <a:srgbClr val="428AF3">
                    <a:alpha val="0"/>
                  </a:srgbClr>
                </a:gs>
                <a:gs pos="83999">
                  <a:srgbClr val="428AF3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96158" y="417830"/>
            <a:ext cx="11399684" cy="574675"/>
            <a:chOff x="119216" y="448525"/>
            <a:chExt cx="11399684" cy="574675"/>
          </a:xfrm>
        </p:grpSpPr>
        <p:sp>
          <p:nvSpPr>
            <p:cNvPr id="3" name="AutoShape 3"/>
            <p:cNvSpPr/>
            <p:nvPr/>
          </p:nvSpPr>
          <p:spPr>
            <a:xfrm>
              <a:off x="119216" y="448525"/>
              <a:ext cx="11399684" cy="574675"/>
            </a:xfrm>
            <a:custGeom>
              <a:avLst/>
              <a:gdLst/>
              <a:ahLst/>
              <a:cxnLst/>
              <a:rect l="l" t="t" r="r" b="b"/>
              <a:pathLst>
                <a:path w="6842" h="362">
                  <a:moveTo>
                    <a:pt x="6738" y="0"/>
                  </a:moveTo>
                  <a:lnTo>
                    <a:pt x="104" y="0"/>
                  </a:lnTo>
                  <a:lnTo>
                    <a:pt x="0" y="181"/>
                  </a:lnTo>
                  <a:lnTo>
                    <a:pt x="104" y="362"/>
                  </a:lnTo>
                  <a:lnTo>
                    <a:pt x="6738" y="362"/>
                  </a:lnTo>
                  <a:lnTo>
                    <a:pt x="6842" y="181"/>
                  </a:lnTo>
                  <a:lnTo>
                    <a:pt x="6738" y="0"/>
                  </a:lnTo>
                  <a:close/>
                </a:path>
              </a:pathLst>
            </a:custGeom>
            <a:gradFill>
              <a:gsLst>
                <a:gs pos="0">
                  <a:srgbClr val="428AF3">
                    <a:alpha val="40000"/>
                  </a:srgbClr>
                </a:gs>
                <a:gs pos="100000">
                  <a:srgbClr val="428AF3">
                    <a:alpha val="10196"/>
                  </a:srgbClr>
                </a:gs>
              </a:gsLst>
              <a:lin ang="2700000"/>
            </a:gradFill>
            <a:ln>
              <a:gradFill>
                <a:gsLst>
                  <a:gs pos="0">
                    <a:srgbClr val="428AF3">
                      <a:alpha val="40000"/>
                    </a:srgbClr>
                  </a:gs>
                  <a:gs pos="100000">
                    <a:srgbClr val="428AF3">
                      <a:alpha val="10196"/>
                    </a:srgbClr>
                  </a:gs>
                </a:gsLst>
                <a:lin ang="0"/>
              </a:gradFill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10979150" y="612491"/>
              <a:ext cx="376297" cy="246742"/>
            </a:xfrm>
            <a:prstGeom prst="rightArrow">
              <a:avLst>
                <a:gd name="adj1" fmla="val 50000"/>
                <a:gd name="adj2" fmla="val 67330"/>
              </a:avLst>
            </a:prstGeom>
            <a:gradFill>
              <a:gsLst>
                <a:gs pos="18000">
                  <a:srgbClr val="428AF3">
                    <a:alpha val="0"/>
                  </a:srgbClr>
                </a:gs>
                <a:gs pos="83999">
                  <a:srgbClr val="428AF3">
                    <a:alpha val="10000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Agenda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>
            <a:off x="660400" y="854710"/>
            <a:ext cx="10871200" cy="5207000"/>
          </a:xfrm>
          <a:prstGeom prst="roundRect">
            <a:avLst>
              <a:gd name="adj" fmla="val 3789"/>
            </a:avLst>
          </a:prstGeom>
          <a:solidFill>
            <a:srgbClr val="FFFFFF">
              <a:alpha val="90196"/>
            </a:srgbClr>
          </a:solidFill>
          <a:ln>
            <a:prstDash val="solid"/>
            <a:headEnd type="none"/>
            <a:tailEnd type="none"/>
          </a:ln>
        </p:spPr>
      </p:sp>
      <p:cxnSp>
        <p:nvCxnSpPr>
          <p:cNvPr id="4" name="Connector 4"/>
          <p:cNvCxnSpPr/>
          <p:nvPr/>
        </p:nvCxnSpPr>
        <p:spPr>
          <a:xfrm>
            <a:off x="2757383" y="1446233"/>
            <a:ext cx="0" cy="4186204"/>
          </a:xfrm>
          <a:prstGeom prst="line">
            <a:avLst/>
          </a:prstGeom>
          <a:ln w="3175">
            <a:solidFill>
              <a:srgbClr val="428AF3">
                <a:alpha val="83137"/>
              </a:srgbClr>
            </a:solidFill>
            <a:prstDash val="solid"/>
            <a:headEnd type="none"/>
            <a:tailEnd type="none"/>
          </a:ln>
        </p:spPr>
      </p:cxnSp>
      <p:sp>
        <p:nvSpPr>
          <p:cNvPr id="5" name="AutoShape 5"/>
          <p:cNvSpPr/>
          <p:nvPr/>
        </p:nvSpPr>
        <p:spPr>
          <a:xfrm>
            <a:off x="1611070" y="4588223"/>
            <a:ext cx="870506" cy="915667"/>
          </a:xfrm>
          <a:custGeom>
            <a:avLst/>
            <a:gdLst/>
            <a:ahLst/>
            <a:cxnLst/>
            <a:rect l="l" t="t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rgbClr val="428AF3">
              <a:alpha val="92156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losing">
    <p:bg>
      <p:bgPr>
        <a:solidFill>
          <a:srgbClr val="428AF3">
            <a:alpha val="60000"/>
            <a:lumMod val="20000"/>
            <a:lumOff val="8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headEnd type="none"/>
            <a:tailEnd type="none"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/ppt/slideMasters/slideMaster1.xm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8379" y="1624049"/>
            <a:ext cx="5575259" cy="2368927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5400" b="1" i="0" dirty="0" err="1">
                <a:ln w="19050"/>
                <a:solidFill>
                  <a:srgbClr val="428AF3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QuickForge</a:t>
            </a:r>
            <a:r>
              <a:rPr lang="en-US" sz="5400" b="1" i="0" dirty="0">
                <a:ln w="19050"/>
                <a:solidFill>
                  <a:srgbClr val="428AF3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5400" b="1" i="0" dirty="0" err="1" smtClean="0">
                <a:ln w="19050"/>
                <a:solidFill>
                  <a:srgbClr val="428AF3">
                    <a:alpha val="100000"/>
                  </a:srgbClr>
                </a:solidFill>
                <a:latin typeface="Arial"/>
                <a:ea typeface="Arial"/>
                <a:cs typeface="Arial"/>
              </a:rPr>
              <a:t>快铸智慧教学平台</a:t>
            </a:r>
            <a:endParaRPr lang="en-US" sz="1100" dirty="0"/>
          </a:p>
        </p:txBody>
      </p:sp>
      <p:sp>
        <p:nvSpPr>
          <p:cNvPr id="3" name="TextBox 3"/>
          <p:cNvSpPr txBox="1"/>
          <p:nvPr/>
        </p:nvSpPr>
        <p:spPr>
          <a:xfrm>
            <a:off x="2238349" y="4143380"/>
            <a:ext cx="3000396" cy="600203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t" anchorCtr="0"/>
          <a:lstStyle/>
          <a:p>
            <a:pPr algn="l">
              <a:lnSpc>
                <a:spcPct val="150000"/>
              </a:lnSpc>
              <a:spcBef>
                <a:spcPts val="1000"/>
              </a:spcBef>
              <a:defRPr/>
            </a:pPr>
            <a:r>
              <a:rPr lang="en-US" sz="1600" b="0" i="0" dirty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让 AI </a:t>
            </a:r>
            <a:r>
              <a:rPr lang="en-US" sz="1600" b="0" i="0" dirty="0" err="1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真正走进每一间教室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587eec33-e0b8-4fdf-ae9f-d503b5ccd190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AutoShape 3"/>
            <p:cNvSpPr/>
            <p:nvPr/>
          </p:nvSpPr>
          <p:spPr>
            <a:xfrm>
              <a:off x="660400" y="1130300"/>
              <a:ext cx="10858500" cy="5003800"/>
            </a:xfrm>
            <a:prstGeom prst="roundRect">
              <a:avLst>
                <a:gd name="adj" fmla="val 4421"/>
              </a:avLst>
            </a:prstGeom>
            <a:solidFill>
              <a:srgbClr val="428AF3">
                <a:alpha val="100000"/>
              </a:srgbClr>
            </a:soli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49651" y="1348831"/>
              <a:ext cx="10080000" cy="972000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0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本地化、零代码的智慧教学工具箱</a:t>
              </a:r>
              <a:endParaRPr lang="en-US" sz="20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1049651" y="2704311"/>
              <a:ext cx="9900000" cy="1370083"/>
              <a:chOff x="1726307" y="2053635"/>
              <a:chExt cx="9900000" cy="828001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726307" y="2281212"/>
                <a:ext cx="648000" cy="391615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428A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20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5651074" y="2053636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QuickForge（快铸）是一套本地化、零代码的教学网站生成与管理工具，将AI生成、数据采集、智能分析打包成一个完整解决方案</a:t>
                </a:r>
                <a:r>
                  <a:rPr lang="en-US" sz="2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。</a:t>
                </a:r>
                <a:endParaRPr lang="en-US" sz="2000" dirty="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626494" y="2053635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一套工具箱</a:t>
                </a:r>
                <a:endParaRPr lang="en-US" sz="20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1049651" y="4395714"/>
              <a:ext cx="9900000" cy="1370081"/>
              <a:chOff x="1726307" y="3057001"/>
              <a:chExt cx="9900000" cy="828000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1726307" y="3284578"/>
                <a:ext cx="648000" cy="391615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428A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20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51074" y="3057001"/>
                <a:ext cx="5975233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让教师无需任何技术基础，即可在局域网内快速拥有专属的数字化教学平台，从而将精力聚焦于教学本身，而非技术实现</a:t>
                </a:r>
                <a:r>
                  <a:rPr lang="en-US" sz="2000" b="0" i="0" dirty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2000" dirty="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626494" y="3057001"/>
                <a:ext cx="2880000" cy="828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l">
                  <a:spcBef>
                    <a:spcPts val="0"/>
                  </a:spcBef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核心价值</a:t>
                </a:r>
                <a:endParaRPr lang="en-US" sz="2000"/>
              </a:p>
            </p:txBody>
          </p:sp>
        </p:grpSp>
        <p:sp>
          <p:nvSpPr>
            <p:cNvPr id="13" name="AutoShape 13"/>
            <p:cNvSpPr/>
            <p:nvPr/>
          </p:nvSpPr>
          <p:spPr>
            <a:xfrm>
              <a:off x="1229651" y="2512571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14" name="AutoShape 14"/>
            <p:cNvSpPr/>
            <p:nvPr/>
          </p:nvSpPr>
          <p:spPr>
            <a:xfrm>
              <a:off x="1229651" y="4235053"/>
              <a:ext cx="9720000" cy="0"/>
            </a:xfrm>
            <a:prstGeom prst="line">
              <a:avLst/>
            </a:prstGeom>
            <a:ln w="6350">
              <a:solidFill>
                <a:srgbClr val="FFFFFF">
                  <a:alpha val="50196"/>
                </a:srgbClr>
              </a:solidFill>
              <a:prstDash val="solid"/>
              <a:headEnd type="none"/>
              <a:tailEnd type="none"/>
            </a:ln>
          </p:spPr>
        </p:sp>
      </p:grpSp>
      <p:sp>
        <p:nvSpPr>
          <p:cNvPr id="15" name="TextBox 1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QuickForge平台简介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f356ab36-ad21-4b52-acc5-2f4f62c41ea5"/>
          <p:cNvGrpSpPr/>
          <p:nvPr/>
        </p:nvGrpSpPr>
        <p:grpSpPr>
          <a:xfrm>
            <a:off x="660399" y="1130302"/>
            <a:ext cx="10858500" cy="5003799"/>
            <a:chOff x="660399" y="1130302"/>
            <a:chExt cx="10858500" cy="5003799"/>
          </a:xfrm>
        </p:grpSpPr>
        <p:sp>
          <p:nvSpPr>
            <p:cNvPr id="3" name="AutoShape 3"/>
            <p:cNvSpPr/>
            <p:nvPr/>
          </p:nvSpPr>
          <p:spPr>
            <a:xfrm>
              <a:off x="3376853" y="1879600"/>
              <a:ext cx="2728056" cy="4254500"/>
            </a:xfrm>
            <a:prstGeom prst="roundRect">
              <a:avLst>
                <a:gd name="adj" fmla="val 0"/>
              </a:avLst>
            </a:prstGeom>
            <a:ln w="12700">
              <a:solidFill>
                <a:srgbClr val="428AF3">
                  <a:alpha val="100000"/>
                </a:srgbClr>
              </a:solidFill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 flipH="1">
              <a:off x="660399" y="1130302"/>
              <a:ext cx="10858500" cy="550188"/>
            </a:xfrm>
            <a:prstGeom prst="rect">
              <a:avLst/>
            </a:prstGeom>
            <a:solidFill>
              <a:srgbClr val="428AF3">
                <a:alpha val="94901"/>
                <a:lumMod val="75000"/>
              </a:srgbClr>
            </a:solidFill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FFFFFF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双击即用，真正零门槛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795678" y="2078276"/>
              <a:ext cx="2485865" cy="4055825"/>
              <a:chOff x="795678" y="2078276"/>
              <a:chExt cx="2485865" cy="4055825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903596" y="2078276"/>
                <a:ext cx="381600" cy="382702"/>
              </a:xfrm>
              <a:prstGeom prst="rect">
                <a:avLst/>
              </a:prstGeom>
              <a:ln w="12700">
                <a:solidFill>
                  <a:srgbClr val="428A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95678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三步完成部署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95678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下载压缩包、解压得到可执行文件、启动程序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局域网内所有设备即可通过浏览器访问，无需任何复杂配置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2000" dirty="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99507" y="2078276"/>
              <a:ext cx="2485865" cy="4055825"/>
              <a:chOff x="3499507" y="2078276"/>
              <a:chExt cx="2485865" cy="4055825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3609046" y="2078276"/>
                <a:ext cx="381600" cy="382702"/>
              </a:xfrm>
              <a:prstGeom prst="rect">
                <a:avLst/>
              </a:prstGeom>
              <a:ln w="12700">
                <a:solidFill>
                  <a:srgbClr val="428A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3499507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告别环境依赖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499507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无需安装</a:t>
                </a:r>
                <a:r>
                  <a:rPr lang="zh-CN" altLang="en-US" sz="20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任何</a:t>
                </a:r>
                <a:r>
                  <a:rPr lang="en-US" sz="20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服务器软件</a:t>
                </a: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，也无需配置</a:t>
                </a:r>
                <a:r>
                  <a:rPr lang="en-US" sz="20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Python等运行环境</a:t>
                </a: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，所有依赖均已内置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2000" dirty="0"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6203336" y="2078276"/>
              <a:ext cx="2485865" cy="4055825"/>
              <a:chOff x="6203336" y="2078276"/>
              <a:chExt cx="2485865" cy="4055825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6312875" y="2078276"/>
                <a:ext cx="381600" cy="382702"/>
              </a:xfrm>
              <a:prstGeom prst="rect">
                <a:avLst/>
              </a:prstGeom>
              <a:ln w="12700">
                <a:solidFill>
                  <a:srgbClr val="428A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203336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数据安全可控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203336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所有教学数据均保存在本地`data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/`</a:t>
                </a: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文件夹，由学校或教师完全掌控，保障数据隐私与安全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2000" dirty="0"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8907166" y="2078276"/>
              <a:ext cx="2485865" cy="4055825"/>
              <a:chOff x="8907166" y="2078276"/>
              <a:chExt cx="2485865" cy="4055825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9016705" y="2078276"/>
                <a:ext cx="381600" cy="382702"/>
              </a:xfrm>
              <a:prstGeom prst="rect">
                <a:avLst/>
              </a:prstGeom>
              <a:ln w="12700">
                <a:solidFill>
                  <a:srgbClr val="428AF3">
                    <a:alpha val="100000"/>
                  </a:srgbClr>
                </a:solidFill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4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907166" y="2550512"/>
                <a:ext cx="2485865" cy="114264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版本灵活选择</a:t>
                </a:r>
                <a:endParaRPr lang="en-US" sz="1100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907166" y="3693161"/>
                <a:ext cx="2485865" cy="244094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20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个人版适合</a:t>
                </a:r>
                <a:r>
                  <a:rPr lang="zh-CN" altLang="en-US" sz="20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老师私有部署</a:t>
                </a:r>
                <a:r>
                  <a:rPr lang="en-US" sz="20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教学</a:t>
                </a:r>
                <a:r>
                  <a:rPr lang="zh-CN" altLang="en-US" sz="20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任务</a:t>
                </a:r>
                <a:r>
                  <a:rPr lang="en-US" sz="20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en-US" sz="20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校园版则支持多教师、多班级管理，满足学校常态化使用需求</a:t>
                </a:r>
                <a:r>
                  <a:rPr lang="en-US" sz="20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2000" dirty="0"/>
              </a:p>
            </p:txBody>
          </p:sp>
        </p:grpSp>
      </p:grpSp>
      <p:sp>
        <p:nvSpPr>
          <p:cNvPr id="21" name="TextBox 21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极简本地部署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e29175d5-1f01-46e5-8048-212dccb33a18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799738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让每位老师都成为“网页开发者”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865362" y="2121878"/>
              <a:ext cx="5115988" cy="1841500"/>
              <a:chOff x="-809885" y="3793646"/>
              <a:chExt cx="5115988" cy="19061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-809885" y="3793646"/>
                <a:ext cx="5115988" cy="19061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-537812" y="3927411"/>
                <a:ext cx="3500413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一句话指令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-537812" y="4647412"/>
                <a:ext cx="4577463" cy="8771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在工作台输入自然语言指令，如“生成一个初中物理浮力测试”，即可自动创建包含指定题型的互动网页。</a:t>
                </a:r>
                <a:endParaRPr lang="en-US" sz="1100"/>
              </a:p>
            </p:txBody>
          </p:sp>
          <p:sp>
            <p:nvSpPr>
              <p:cNvPr id="8" name="AutoShape 8"/>
              <p:cNvSpPr/>
              <p:nvPr/>
            </p:nvSpPr>
            <p:spPr>
              <a:xfrm rot="10800000">
                <a:off x="3477911" y="3793646"/>
                <a:ext cx="576000" cy="576000"/>
              </a:xfrm>
              <a:prstGeom prst="round2Same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3521786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210651" y="2121878"/>
              <a:ext cx="5115988" cy="1841500"/>
              <a:chOff x="2845662" y="3793646"/>
              <a:chExt cx="5115988" cy="1906100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2845662" y="3793646"/>
                <a:ext cx="5115988" cy="19061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3106718" y="3927411"/>
                <a:ext cx="3500413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DeepSeek深度生成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106718" y="4647413"/>
                <a:ext cx="4577463" cy="8771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选择任务文件夹和网页类型，使用内置提示词模板库，即可在DeepSeek中生成更复杂的交互式教学页面。</a:t>
                </a:r>
                <a:endParaRPr lang="en-US" sz="1100"/>
              </a:p>
            </p:txBody>
          </p:sp>
          <p:sp>
            <p:nvSpPr>
              <p:cNvPr id="14" name="AutoShape 14"/>
              <p:cNvSpPr/>
              <p:nvPr/>
            </p:nvSpPr>
            <p:spPr>
              <a:xfrm rot="10800000">
                <a:off x="7133458" y="3793646"/>
                <a:ext cx="576000" cy="576000"/>
              </a:xfrm>
              <a:prstGeom prst="round2Same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7177333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865362" y="4292600"/>
              <a:ext cx="5115988" cy="1841500"/>
              <a:chOff x="-809885" y="3793646"/>
              <a:chExt cx="5115988" cy="1906100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-809885" y="3793646"/>
                <a:ext cx="5115988" cy="19061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-537812" y="3927411"/>
                <a:ext cx="3500413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现有网页升级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-537812" y="4647412"/>
                <a:ext cx="4577463" cy="8771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将已有的单机HTML课件拖入任务文件夹，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平台即可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一键生成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为其赋予数据提交功能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，无需修改任何代码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20" name="AutoShape 20"/>
              <p:cNvSpPr/>
              <p:nvPr/>
            </p:nvSpPr>
            <p:spPr>
              <a:xfrm rot="10800000">
                <a:off x="3477911" y="3793646"/>
                <a:ext cx="576000" cy="576000"/>
              </a:xfrm>
              <a:prstGeom prst="round2Same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3521786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10651" y="4292600"/>
              <a:ext cx="5115988" cy="1841500"/>
              <a:chOff x="2845662" y="3793646"/>
              <a:chExt cx="5115988" cy="1906100"/>
            </a:xfrm>
          </p:grpSpPr>
          <p:sp>
            <p:nvSpPr>
              <p:cNvPr id="23" name="AutoShape 23"/>
              <p:cNvSpPr/>
              <p:nvPr/>
            </p:nvSpPr>
            <p:spPr>
              <a:xfrm>
                <a:off x="2845662" y="3793646"/>
                <a:ext cx="5115988" cy="1906100"/>
              </a:xfrm>
              <a:prstGeom prst="roundRect">
                <a:avLst>
                  <a:gd name="adj" fmla="val 4512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3106718" y="3927411"/>
                <a:ext cx="3500413" cy="720000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自带统计接口</a:t>
                </a:r>
                <a:endParaRPr lang="en-US" sz="110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106718" y="4647413"/>
                <a:ext cx="4577463" cy="877143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spcAft>
                    <a:spcPts val="1200"/>
                  </a:spcAft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无论是AI生成还是上传的网页，均自带完整的提交与统计接口，可直接用于数据采集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26" name="AutoShape 26"/>
              <p:cNvSpPr/>
              <p:nvPr/>
            </p:nvSpPr>
            <p:spPr>
              <a:xfrm rot="10800000">
                <a:off x="7133458" y="3793646"/>
                <a:ext cx="576000" cy="576000"/>
              </a:xfrm>
              <a:prstGeom prst="round2Same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7177333" y="3862327"/>
                <a:ext cx="488250" cy="433042"/>
              </a:xfrm>
              <a:prstGeom prst="rect">
                <a:avLst/>
              </a:prstGeom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lnSpc>
                    <a:spcPct val="100000"/>
                  </a:lnSpc>
                  <a:defRPr/>
                </a:pPr>
                <a:r>
                  <a:rPr lang="en-US" sz="1600" b="1" i="0">
                    <a:ln w="15875"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8" name="TextBox 2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AI一句话生成网页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5fb8e51-73e5-417a-8308-8b54fa0d8e7f"/>
          <p:cNvGrpSpPr/>
          <p:nvPr/>
        </p:nvGrpSpPr>
        <p:grpSpPr>
          <a:xfrm>
            <a:off x="0" y="0"/>
            <a:ext cx="12192000" cy="6858000"/>
            <a:chOff x="-101600" y="0"/>
            <a:chExt cx="12192000" cy="6858000"/>
          </a:xfrm>
        </p:grpSpPr>
        <p:sp>
          <p:nvSpPr>
            <p:cNvPr id="3" name="AutoShape 3"/>
            <p:cNvSpPr/>
            <p:nvPr/>
          </p:nvSpPr>
          <p:spPr>
            <a:xfrm>
              <a:off x="-101600" y="0"/>
              <a:ext cx="12192000" cy="6858000"/>
            </a:xfrm>
            <a:prstGeom prst="roundRect">
              <a:avLst>
                <a:gd name="adj" fmla="val 0"/>
              </a:avLst>
            </a:prstGeom>
            <a:solidFill>
              <a:srgbClr val="8E7EF0">
                <a:alpha val="4705"/>
              </a:srgbClr>
            </a:solidFill>
            <a:ln>
              <a:prstDash val="solid"/>
              <a:headEnd type="none"/>
              <a:tailEnd type="none"/>
            </a:ln>
          </p:spPr>
        </p:sp>
        <p:grpSp>
          <p:nvGrpSpPr>
            <p:cNvPr id="4" name="Group 4"/>
            <p:cNvGrpSpPr/>
            <p:nvPr/>
          </p:nvGrpSpPr>
          <p:grpSpPr>
            <a:xfrm>
              <a:off x="660400" y="3758005"/>
              <a:ext cx="10858500" cy="2376093"/>
              <a:chOff x="660400" y="3758005"/>
              <a:chExt cx="10858500" cy="2376093"/>
            </a:xfrm>
          </p:grpSpPr>
          <p:grpSp>
            <p:nvGrpSpPr>
              <p:cNvPr id="5" name="Group 5"/>
              <p:cNvGrpSpPr/>
              <p:nvPr/>
            </p:nvGrpSpPr>
            <p:grpSpPr>
              <a:xfrm>
                <a:off x="660400" y="3758005"/>
                <a:ext cx="3543300" cy="2376093"/>
                <a:chOff x="660400" y="3758005"/>
                <a:chExt cx="3543300" cy="2376093"/>
              </a:xfrm>
            </p:grpSpPr>
            <p:sp>
              <p:nvSpPr>
                <p:cNvPr id="6" name="AutoShape 6"/>
                <p:cNvSpPr/>
                <p:nvPr/>
              </p:nvSpPr>
              <p:spPr>
                <a:xfrm>
                  <a:off x="660400" y="3758005"/>
                  <a:ext cx="3543300" cy="2376093"/>
                </a:xfrm>
                <a:prstGeom prst="roundRect">
                  <a:avLst>
                    <a:gd name="adj" fmla="val 4900"/>
                  </a:avLst>
                </a:prstGeom>
                <a:ln w="19050">
                  <a:solidFill>
                    <a:srgbClr val="428AF3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7" name="Group 7"/>
                <p:cNvGrpSpPr/>
                <p:nvPr/>
              </p:nvGrpSpPr>
              <p:grpSpPr>
                <a:xfrm>
                  <a:off x="952500" y="3947609"/>
                  <a:ext cx="2987675" cy="1738544"/>
                  <a:chOff x="952500" y="3947609"/>
                  <a:chExt cx="2987675" cy="1738544"/>
                </a:xfrm>
              </p:grpSpPr>
              <p:sp>
                <p:nvSpPr>
                  <p:cNvPr id="8" name="TextBox 8"/>
                  <p:cNvSpPr txBox="1"/>
                  <p:nvPr/>
                </p:nvSpPr>
                <p:spPr>
                  <a:xfrm>
                    <a:off x="952500" y="4031056"/>
                    <a:ext cx="53340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9782FF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9782FF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20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1</a:t>
                    </a:r>
                    <a:endParaRPr lang="en-US" sz="1100"/>
                  </a:p>
                </p:txBody>
              </p:sp>
              <p:grpSp>
                <p:nvGrpSpPr>
                  <p:cNvPr id="9" name="Group 9"/>
                  <p:cNvGrpSpPr/>
                  <p:nvPr/>
                </p:nvGrpSpPr>
                <p:grpSpPr>
                  <a:xfrm>
                    <a:off x="1616075" y="3947609"/>
                    <a:ext cx="2324100" cy="1738544"/>
                    <a:chOff x="1616075" y="3947609"/>
                    <a:chExt cx="2324100" cy="1738544"/>
                  </a:xfrm>
                </p:grpSpPr>
                <p:sp>
                  <p:nvSpPr>
                    <p:cNvPr id="10" name="TextBox 10"/>
                    <p:cNvSpPr txBox="1"/>
                    <p:nvPr/>
                  </p:nvSpPr>
                  <p:spPr>
                    <a:xfrm>
                      <a:off x="1616075" y="3947609"/>
                      <a:ext cx="2324100" cy="616847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1440" tIns="45720" rIns="91440" bIns="45720" rtlCol="0" anchor="b" anchorCtr="0"/>
                    <a:lstStyle/>
                    <a:p>
                      <a:pPr algn="l">
                        <a:defRPr/>
                      </a:pPr>
                      <a:r>
                        <a:rPr lang="en-US" sz="1800" b="1" i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学生实时提交</a:t>
                      </a:r>
                      <a:endParaRPr lang="en-US" sz="1100"/>
                    </a:p>
                  </p:txBody>
                </p:sp>
                <p:sp>
                  <p:nvSpPr>
                    <p:cNvPr id="11" name="TextBox 11"/>
                    <p:cNvSpPr txBox="1"/>
                    <p:nvPr/>
                  </p:nvSpPr>
                  <p:spPr>
                    <a:xfrm>
                      <a:off x="1616075" y="4564457"/>
                      <a:ext cx="2324100" cy="1121696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1440" tIns="45720" rIns="91440" bIns="45720" rtlCol="0" anchor="t" anchorCtr="0"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en-US" sz="1200" b="0" i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学生通过教师提供的局域网链接访问页面并答题，所有数据将实时存入平台数据库。</a:t>
                      </a:r>
                      <a:endParaRPr lang="en-US" sz="1100"/>
                    </a:p>
                  </p:txBody>
                </p:sp>
              </p:grpSp>
            </p:grpSp>
          </p:grpSp>
          <p:grpSp>
            <p:nvGrpSpPr>
              <p:cNvPr id="12" name="Group 12"/>
              <p:cNvGrpSpPr/>
              <p:nvPr/>
            </p:nvGrpSpPr>
            <p:grpSpPr>
              <a:xfrm>
                <a:off x="4318000" y="3758005"/>
                <a:ext cx="3543300" cy="2376093"/>
                <a:chOff x="4318000" y="3758005"/>
                <a:chExt cx="3543300" cy="2376093"/>
              </a:xfrm>
            </p:grpSpPr>
            <p:sp>
              <p:nvSpPr>
                <p:cNvPr id="13" name="AutoShape 13"/>
                <p:cNvSpPr/>
                <p:nvPr/>
              </p:nvSpPr>
              <p:spPr>
                <a:xfrm>
                  <a:off x="4318000" y="3758005"/>
                  <a:ext cx="3543300" cy="2376093"/>
                </a:xfrm>
                <a:prstGeom prst="roundRect">
                  <a:avLst>
                    <a:gd name="adj" fmla="val 4900"/>
                  </a:avLst>
                </a:prstGeom>
                <a:ln w="19050">
                  <a:solidFill>
                    <a:srgbClr val="3141E6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grpSp>
              <p:nvGrpSpPr>
                <p:cNvPr id="14" name="Group 14"/>
                <p:cNvGrpSpPr/>
                <p:nvPr/>
              </p:nvGrpSpPr>
              <p:grpSpPr>
                <a:xfrm>
                  <a:off x="4610100" y="3947609"/>
                  <a:ext cx="2987675" cy="1738544"/>
                  <a:chOff x="4610100" y="3947609"/>
                  <a:chExt cx="2987675" cy="1738544"/>
                </a:xfrm>
              </p:grpSpPr>
              <p:sp>
                <p:nvSpPr>
                  <p:cNvPr id="15" name="TextBox 15"/>
                  <p:cNvSpPr txBox="1"/>
                  <p:nvPr/>
                </p:nvSpPr>
                <p:spPr>
                  <a:xfrm>
                    <a:off x="4610100" y="4031056"/>
                    <a:ext cx="533400" cy="533400"/>
                  </a:xfrm>
                  <a:prstGeom prst="ellipse">
                    <a:avLst/>
                  </a:prstGeom>
                  <a:gradFill>
                    <a:gsLst>
                      <a:gs pos="0">
                        <a:srgbClr val="3141E6">
                          <a:alpha val="100000"/>
                          <a:lumMod val="60000"/>
                          <a:lumOff val="40000"/>
                        </a:srgbClr>
                      </a:gs>
                      <a:gs pos="60000">
                        <a:srgbClr val="3141E6">
                          <a:alpha val="100000"/>
                        </a:srgbClr>
                      </a:gs>
                    </a:gsLst>
                    <a:lin ang="2700000"/>
                  </a:gradFill>
                  <a:ln>
                    <a:prstDash val="solid"/>
                    <a:headEnd type="none"/>
                    <a:tailEnd type="none"/>
                  </a:ln>
                </p:spPr>
                <p:txBody>
                  <a:bodyPr vert="horz" wrap="square" lIns="91440" tIns="45720" rIns="91440" bIns="45720" rtlCol="0" anchor="ctr" anchorCtr="0"/>
                  <a:lstStyle/>
                  <a:p>
                    <a:pPr algn="ctr">
                      <a:defRPr/>
                    </a:pPr>
                    <a:r>
                      <a:rPr lang="en-US" sz="2000" b="1" i="0">
                        <a:ln/>
                        <a:solidFill>
                          <a:srgbClr val="FFFFFF">
                            <a:alpha val="100000"/>
                          </a:srgbClr>
                        </a:solidFill>
                        <a:latin typeface="Arial"/>
                        <a:ea typeface="Arial"/>
                        <a:cs typeface="Arial"/>
                      </a:rPr>
                      <a:t>2</a:t>
                    </a:r>
                    <a:endParaRPr lang="en-US" sz="1100"/>
                  </a:p>
                </p:txBody>
              </p:sp>
              <p:grpSp>
                <p:nvGrpSpPr>
                  <p:cNvPr id="16" name="Group 16"/>
                  <p:cNvGrpSpPr/>
                  <p:nvPr/>
                </p:nvGrpSpPr>
                <p:grpSpPr>
                  <a:xfrm>
                    <a:off x="5273674" y="3947609"/>
                    <a:ext cx="2324101" cy="1738544"/>
                    <a:chOff x="5273674" y="3947609"/>
                    <a:chExt cx="2324101" cy="1738544"/>
                  </a:xfrm>
                </p:grpSpPr>
                <p:sp>
                  <p:nvSpPr>
                    <p:cNvPr id="17" name="TextBox 17"/>
                    <p:cNvSpPr txBox="1"/>
                    <p:nvPr/>
                  </p:nvSpPr>
                  <p:spPr>
                    <a:xfrm>
                      <a:off x="5273675" y="3947609"/>
                      <a:ext cx="2324100" cy="616847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1440" tIns="45720" rIns="91440" bIns="45720" rtlCol="0" anchor="b" anchorCtr="0"/>
                    <a:lstStyle/>
                    <a:p>
                      <a:pPr algn="l">
                        <a:defRPr/>
                      </a:pPr>
                      <a:r>
                        <a:rPr lang="en-US" sz="1800" b="1" i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教师端即时看板</a:t>
                      </a:r>
                      <a:endParaRPr lang="en-US" sz="1100"/>
                    </a:p>
                  </p:txBody>
                </p:sp>
                <p:sp>
                  <p:nvSpPr>
                    <p:cNvPr id="18" name="TextBox 18"/>
                    <p:cNvSpPr txBox="1"/>
                    <p:nvPr/>
                  </p:nvSpPr>
                  <p:spPr>
                    <a:xfrm>
                      <a:off x="5273674" y="4564457"/>
                      <a:ext cx="2324100" cy="1121696"/>
                    </a:xfrm>
                    <a:prstGeom prst="rect">
                      <a:avLst/>
                    </a:prstGeom>
                    <a:ln>
                      <a:headEnd type="none"/>
                      <a:tailEnd type="none"/>
                    </a:ln>
                  </p:spPr>
                  <p:txBody>
                    <a:bodyPr vert="horz" wrap="square" lIns="91440" tIns="45720" rIns="91440" bIns="45720" rtlCol="0" anchor="t" anchorCtr="0"/>
                    <a:lstStyle/>
                    <a:p>
                      <a:pPr algn="l">
                        <a:lnSpc>
                          <a:spcPct val="120000"/>
                        </a:lnSpc>
                        <a:defRPr/>
                      </a:pPr>
                      <a:r>
                        <a:rPr lang="en-US" sz="1200" b="0" i="0">
                          <a:ln/>
                          <a:solidFill>
                            <a:srgbClr val="000000">
                              <a:alpha val="100000"/>
                            </a:srgbClr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教师在“数据管理”页面可实时查看提交时间分布、每道题的答题情况、学生上传的图片附件等。</a:t>
                      </a:r>
                      <a:endParaRPr lang="en-US" sz="1100"/>
                    </a:p>
                  </p:txBody>
                </p:sp>
              </p:grpSp>
            </p:grpSp>
          </p:grpSp>
          <p:grpSp>
            <p:nvGrpSpPr>
              <p:cNvPr id="19" name="Group 19"/>
              <p:cNvGrpSpPr/>
              <p:nvPr/>
            </p:nvGrpSpPr>
            <p:grpSpPr>
              <a:xfrm>
                <a:off x="7975600" y="3758005"/>
                <a:ext cx="3543300" cy="2376093"/>
                <a:chOff x="7975600" y="3758005"/>
                <a:chExt cx="3543300" cy="2376093"/>
              </a:xfrm>
            </p:grpSpPr>
            <p:sp>
              <p:nvSpPr>
                <p:cNvPr id="20" name="AutoShape 20"/>
                <p:cNvSpPr/>
                <p:nvPr/>
              </p:nvSpPr>
              <p:spPr>
                <a:xfrm>
                  <a:off x="7975600" y="3758005"/>
                  <a:ext cx="3543300" cy="2376093"/>
                </a:xfrm>
                <a:prstGeom prst="roundRect">
                  <a:avLst>
                    <a:gd name="adj" fmla="val 4900"/>
                  </a:avLst>
                </a:prstGeom>
                <a:ln w="19050">
                  <a:solidFill>
                    <a:srgbClr val="33CBDA">
                      <a:alpha val="100000"/>
                    </a:srgbClr>
                  </a:solidFill>
                  <a:prstDash val="solid"/>
                  <a:headEnd type="none"/>
                  <a:tailEnd type="none"/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8267700" y="4031056"/>
                  <a:ext cx="533400" cy="533400"/>
                </a:xfrm>
                <a:prstGeom prst="ellipse">
                  <a:avLst/>
                </a:prstGeom>
                <a:gradFill>
                  <a:gsLst>
                    <a:gs pos="0">
                      <a:srgbClr val="33CBDA">
                        <a:alpha val="100000"/>
                        <a:lumMod val="60000"/>
                        <a:lumOff val="40000"/>
                      </a:srgbClr>
                    </a:gs>
                    <a:gs pos="60000">
                      <a:srgbClr val="33CBDA">
                        <a:alpha val="100000"/>
                      </a:srgbClr>
                    </a:gs>
                  </a:gsLst>
                  <a:lin ang="2700000"/>
                </a:gradFill>
                <a:ln>
                  <a:prstDash val="solid"/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ctr" anchorCtr="0"/>
                <a:lstStyle/>
                <a:p>
                  <a:pPr algn="ctr">
                    <a:defRPr/>
                  </a:pPr>
                  <a:r>
                    <a:rPr lang="en-US" sz="2000" b="1" i="0">
                      <a:ln/>
                      <a:solidFill>
                        <a:srgbClr val="FFFFFF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  <a:endParaRPr lang="en-US" sz="1100"/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8931275" y="3947609"/>
                  <a:ext cx="2324100" cy="616847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defRPr/>
                  </a:pPr>
                  <a:r>
                    <a:rPr lang="en-US" sz="1800" b="1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课堂快速反馈</a:t>
                  </a:r>
                  <a:endParaRPr lang="en-US" sz="1100"/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8931274" y="4564457"/>
                  <a:ext cx="2324100" cy="112169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defRPr/>
                  </a:pPr>
                  <a:r>
                    <a:rPr lang="en-US" sz="1200" b="0" i="0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学生提交后一分钟内，教师即可掌握全班正确率、常见错误选项，从而在课堂上即时调整讲解重点。</a:t>
                  </a:r>
                  <a:endParaRPr lang="en-US" sz="1100"/>
                </a:p>
              </p:txBody>
            </p:sp>
          </p:grpSp>
        </p:grpSp>
        <p:sp>
          <p:nvSpPr>
            <p:cNvPr id="24" name="TextBox 24"/>
            <p:cNvSpPr txBox="1"/>
            <p:nvPr/>
          </p:nvSpPr>
          <p:spPr>
            <a:xfrm>
              <a:off x="660401" y="1130300"/>
              <a:ext cx="10858499" cy="90404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0"/>
            <a:lstStyle/>
            <a:p>
              <a:pPr algn="l">
                <a:defRPr/>
              </a:pPr>
              <a:r>
                <a:rPr lang="en-US" sz="2400" b="1" i="0" strike="noStrike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学生提交，教师即时掌握学情</a:t>
              </a:r>
              <a:endParaRPr lang="en-US" sz="1100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实时作业与评测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76172eb-5f6e-4e65-b63e-e6f364bfe70f"/>
          <p:cNvGrpSpPr/>
          <p:nvPr/>
        </p:nvGrpSpPr>
        <p:grpSpPr>
          <a:xfrm>
            <a:off x="630316" y="1130300"/>
            <a:ext cx="10918669" cy="4840046"/>
            <a:chOff x="630316" y="1130300"/>
            <a:chExt cx="10918669" cy="4840046"/>
          </a:xfrm>
        </p:grpSpPr>
        <p:sp>
          <p:nvSpPr>
            <p:cNvPr id="3" name="AutoShape 3"/>
            <p:cNvSpPr/>
            <p:nvPr/>
          </p:nvSpPr>
          <p:spPr>
            <a:xfrm>
              <a:off x="4836108" y="1886039"/>
              <a:ext cx="2507085" cy="45719"/>
            </a:xfrm>
            <a:prstGeom prst="rect">
              <a:avLst/>
            </a:prstGeom>
            <a:gradFill>
              <a:gsLst>
                <a:gs pos="15000">
                  <a:srgbClr val="428AF3">
                    <a:alpha val="72941"/>
                  </a:srgbClr>
                </a:gs>
                <a:gs pos="100000">
                  <a:srgbClr val="3141E6">
                    <a:alpha val="0"/>
                  </a:srgbClr>
                </a:gs>
              </a:gsLst>
              <a:lin ang="0"/>
            </a:gradFill>
            <a:ln>
              <a:prstDash val="solid"/>
              <a:headEnd type="none"/>
              <a:tailEnd type="none"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660400" y="1130300"/>
              <a:ext cx="10858500" cy="66656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从数据到洞察，AI辅助精准教学</a:t>
              </a:r>
              <a:endParaRPr lang="en-US" sz="1100"/>
            </a:p>
          </p:txBody>
        </p:sp>
        <p:grpSp>
          <p:nvGrpSpPr>
            <p:cNvPr id="5" name="Group 5"/>
            <p:cNvGrpSpPr/>
            <p:nvPr/>
          </p:nvGrpSpPr>
          <p:grpSpPr>
            <a:xfrm>
              <a:off x="630316" y="2126893"/>
              <a:ext cx="2609921" cy="3428173"/>
              <a:chOff x="630316" y="2126893"/>
              <a:chExt cx="2609921" cy="3428173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36320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697372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2132797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630316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46999">
                    <a:srgbClr val="3141E6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2986606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141E6">
                      <a:alpha val="100000"/>
                      <a:lumMod val="60000"/>
                      <a:lumOff val="40000"/>
                    </a:srgbClr>
                  </a:gs>
                  <a:gs pos="44999">
                    <a:srgbClr val="3141E6">
                      <a:alpha val="100000"/>
                    </a:srgbClr>
                  </a:gs>
                  <a:gs pos="100000">
                    <a:srgbClr val="428AF3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11" name="Group 11"/>
              <p:cNvGrpSpPr/>
              <p:nvPr/>
            </p:nvGrpSpPr>
            <p:grpSpPr>
              <a:xfrm>
                <a:off x="642600" y="2137635"/>
                <a:ext cx="2583875" cy="3417431"/>
                <a:chOff x="642600" y="2137635"/>
                <a:chExt cx="2583875" cy="3417431"/>
              </a:xfrm>
            </p:grpSpPr>
            <p:sp>
              <p:nvSpPr>
                <p:cNvPr id="12" name="AutoShape 12"/>
                <p:cNvSpPr/>
                <p:nvPr/>
              </p:nvSpPr>
              <p:spPr>
                <a:xfrm>
                  <a:off x="642600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28AF3">
                        <a:alpha val="30196"/>
                      </a:srgbClr>
                    </a:gs>
                    <a:gs pos="87999">
                      <a:srgbClr val="428AF3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1447651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1</a:t>
                  </a:r>
                  <a:endParaRPr lang="en-US" sz="1100"/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709188" y="3385725"/>
                  <a:ext cx="2449859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自动识别题干</a:t>
                  </a:r>
                  <a:endParaRPr lang="en-US" sz="1100"/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709189" y="4278772"/>
                  <a:ext cx="2449859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平台可解析网页中的题目文本，为每道题自动生成名称，方便后续分析。</a:t>
                  </a:r>
                  <a:endParaRPr lang="en-US" sz="1100"/>
                </a:p>
              </p:txBody>
            </p:sp>
          </p:grpSp>
        </p:grpSp>
        <p:grpSp>
          <p:nvGrpSpPr>
            <p:cNvPr id="16" name="Group 16"/>
            <p:cNvGrpSpPr/>
            <p:nvPr/>
          </p:nvGrpSpPr>
          <p:grpSpPr>
            <a:xfrm>
              <a:off x="3399899" y="2596435"/>
              <a:ext cx="2609921" cy="3373911"/>
              <a:chOff x="3399899" y="2596435"/>
              <a:chExt cx="2609921" cy="3373911"/>
            </a:xfrm>
          </p:grpSpPr>
          <p:sp>
            <p:nvSpPr>
              <p:cNvPr id="17" name="AutoShape 17"/>
              <p:cNvSpPr/>
              <p:nvPr/>
            </p:nvSpPr>
            <p:spPr>
              <a:xfrm>
                <a:off x="3405903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3466955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4902380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3399899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46999">
                    <a:srgbClr val="3141E6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5756189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141E6">
                      <a:alpha val="100000"/>
                      <a:lumMod val="60000"/>
                      <a:lumOff val="40000"/>
                    </a:srgbClr>
                  </a:gs>
                  <a:gs pos="44999">
                    <a:srgbClr val="3141E6">
                      <a:alpha val="100000"/>
                    </a:srgbClr>
                  </a:gs>
                  <a:gs pos="100000">
                    <a:srgbClr val="428AF3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3412183" y="2607177"/>
                <a:ext cx="2583875" cy="3363169"/>
                <a:chOff x="3412183" y="2607177"/>
                <a:chExt cx="2583875" cy="3363169"/>
              </a:xfrm>
            </p:grpSpPr>
            <p:sp>
              <p:nvSpPr>
                <p:cNvPr id="23" name="AutoShape 23"/>
                <p:cNvSpPr/>
                <p:nvPr/>
              </p:nvSpPr>
              <p:spPr>
                <a:xfrm>
                  <a:off x="3412183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28AF3">
                        <a:alpha val="30196"/>
                      </a:srgbClr>
                    </a:gs>
                    <a:gs pos="87999">
                      <a:srgbClr val="428AF3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4217234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2</a:t>
                  </a:r>
                  <a:endParaRPr lang="en-US" sz="1100"/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479929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AI一键生成报告</a:t>
                  </a:r>
                  <a:endParaRPr lang="en-US" sz="1100"/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47993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结合大模型能力，可一键生成包含班级得分率、知识点掌握热度图、高频错误点、学生个体画像等内容的深度报告。</a:t>
                  </a:r>
                  <a:endParaRPr lang="en-US" sz="1100"/>
                </a:p>
              </p:txBody>
            </p:sp>
          </p:grpSp>
        </p:grpSp>
        <p:grpSp>
          <p:nvGrpSpPr>
            <p:cNvPr id="27" name="Group 27"/>
            <p:cNvGrpSpPr/>
            <p:nvPr/>
          </p:nvGrpSpPr>
          <p:grpSpPr>
            <a:xfrm>
              <a:off x="6169482" y="2596435"/>
              <a:ext cx="2609921" cy="3373911"/>
              <a:chOff x="6169482" y="2596435"/>
              <a:chExt cx="2609921" cy="3373911"/>
            </a:xfrm>
          </p:grpSpPr>
          <p:sp>
            <p:nvSpPr>
              <p:cNvPr id="28" name="AutoShape 28"/>
              <p:cNvSpPr/>
              <p:nvPr/>
            </p:nvSpPr>
            <p:spPr>
              <a:xfrm flipH="1">
                <a:off x="6175485" y="2601153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9" name="AutoShape 29"/>
              <p:cNvSpPr/>
              <p:nvPr/>
            </p:nvSpPr>
            <p:spPr>
              <a:xfrm flipH="1">
                <a:off x="7848653" y="2652324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0" name="AutoShape 30"/>
              <p:cNvSpPr/>
              <p:nvPr/>
            </p:nvSpPr>
            <p:spPr>
              <a:xfrm flipH="1">
                <a:off x="6526744" y="2647679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AutoShape 31"/>
              <p:cNvSpPr/>
              <p:nvPr/>
            </p:nvSpPr>
            <p:spPr>
              <a:xfrm flipH="1">
                <a:off x="8159643" y="2596435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46999">
                    <a:srgbClr val="3141E6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2" name="AutoShape 32"/>
              <p:cNvSpPr/>
              <p:nvPr/>
            </p:nvSpPr>
            <p:spPr>
              <a:xfrm flipH="1">
                <a:off x="6169482" y="2740513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141E6">
                      <a:alpha val="100000"/>
                      <a:lumMod val="60000"/>
                      <a:lumOff val="40000"/>
                    </a:srgbClr>
                  </a:gs>
                  <a:gs pos="44999">
                    <a:srgbClr val="3141E6">
                      <a:alpha val="100000"/>
                    </a:srgbClr>
                  </a:gs>
                  <a:gs pos="100000">
                    <a:srgbClr val="428AF3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33" name="Group 33"/>
              <p:cNvGrpSpPr/>
              <p:nvPr/>
            </p:nvGrpSpPr>
            <p:grpSpPr>
              <a:xfrm>
                <a:off x="6183244" y="2607177"/>
                <a:ext cx="2583875" cy="3363169"/>
                <a:chOff x="6183244" y="2607177"/>
                <a:chExt cx="2583875" cy="3363169"/>
              </a:xfrm>
            </p:grpSpPr>
            <p:sp>
              <p:nvSpPr>
                <p:cNvPr id="34" name="AutoShape 34"/>
                <p:cNvSpPr/>
                <p:nvPr/>
              </p:nvSpPr>
              <p:spPr>
                <a:xfrm flipH="1">
                  <a:off x="6183244" y="2607177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28AF3">
                        <a:alpha val="30196"/>
                      </a:srgbClr>
                    </a:gs>
                    <a:gs pos="87999">
                      <a:srgbClr val="428AF3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35" name="TextBox 35"/>
                <p:cNvSpPr txBox="1"/>
                <p:nvPr/>
              </p:nvSpPr>
              <p:spPr>
                <a:xfrm flipH="1">
                  <a:off x="6986816" y="2908570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3</a:t>
                  </a:r>
                  <a:endParaRPr lang="en-US" sz="1100"/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 flipH="1">
                  <a:off x="6249512" y="3801006"/>
                  <a:ext cx="2449859" cy="778648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报告应用场景</a:t>
                  </a:r>
                  <a:endParaRPr lang="en-US" sz="1100"/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 flipH="1">
                  <a:off x="6249510" y="4694053"/>
                  <a:ext cx="2449859" cy="1276293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报告可用于指导教研组集体备课、在家长会上可视化呈现学生表现、辅助教师进行教学反思与课题研究。</a:t>
                  </a:r>
                  <a:endParaRPr lang="en-US" sz="1100"/>
                </a:p>
              </p:txBody>
            </p:sp>
          </p:grpSp>
        </p:grpSp>
        <p:grpSp>
          <p:nvGrpSpPr>
            <p:cNvPr id="38" name="Group 38"/>
            <p:cNvGrpSpPr/>
            <p:nvPr/>
          </p:nvGrpSpPr>
          <p:grpSpPr>
            <a:xfrm>
              <a:off x="8939064" y="2126893"/>
              <a:ext cx="2609921" cy="3428173"/>
              <a:chOff x="8939064" y="2126893"/>
              <a:chExt cx="2609921" cy="3428173"/>
            </a:xfrm>
          </p:grpSpPr>
          <p:sp>
            <p:nvSpPr>
              <p:cNvPr id="39" name="AutoShape 39"/>
              <p:cNvSpPr/>
              <p:nvPr/>
            </p:nvSpPr>
            <p:spPr>
              <a:xfrm flipH="1">
                <a:off x="8945067" y="2131611"/>
                <a:ext cx="2597914" cy="2347869"/>
              </a:xfrm>
              <a:custGeom>
                <a:avLst/>
                <a:gdLst/>
                <a:ahLst/>
                <a:cxnLst/>
                <a:rect l="l" t="t" r="r" b="b"/>
                <a:pathLst>
                  <a:path w="4078981" h="4690964">
                    <a:moveTo>
                      <a:pt x="181130" y="37996"/>
                    </a:moveTo>
                    <a:lnTo>
                      <a:pt x="37995" y="176199"/>
                    </a:lnTo>
                    <a:lnTo>
                      <a:pt x="37995" y="370671"/>
                    </a:lnTo>
                    <a:lnTo>
                      <a:pt x="38140" y="370671"/>
                    </a:lnTo>
                    <a:lnTo>
                      <a:pt x="38140" y="4308547"/>
                    </a:lnTo>
                    <a:lnTo>
                      <a:pt x="37995" y="4308547"/>
                    </a:lnTo>
                    <a:lnTo>
                      <a:pt x="37995" y="4509690"/>
                    </a:lnTo>
                    <a:lnTo>
                      <a:pt x="176199" y="4652824"/>
                    </a:lnTo>
                    <a:lnTo>
                      <a:pt x="351964" y="4652824"/>
                    </a:lnTo>
                    <a:lnTo>
                      <a:pt x="362840" y="4652824"/>
                    </a:lnTo>
                    <a:lnTo>
                      <a:pt x="3753700" y="4652824"/>
                    </a:lnTo>
                    <a:lnTo>
                      <a:pt x="3759211" y="4652824"/>
                    </a:lnTo>
                    <a:lnTo>
                      <a:pt x="3902781" y="4652824"/>
                    </a:lnTo>
                    <a:lnTo>
                      <a:pt x="4040840" y="4509690"/>
                    </a:lnTo>
                    <a:lnTo>
                      <a:pt x="4040840" y="4346107"/>
                    </a:lnTo>
                    <a:lnTo>
                      <a:pt x="4040840" y="4317248"/>
                    </a:lnTo>
                    <a:lnTo>
                      <a:pt x="4040840" y="633449"/>
                    </a:lnTo>
                    <a:lnTo>
                      <a:pt x="4040841" y="633449"/>
                    </a:lnTo>
                    <a:lnTo>
                      <a:pt x="4040841" y="463920"/>
                    </a:lnTo>
                    <a:lnTo>
                      <a:pt x="3897706" y="325861"/>
                    </a:lnTo>
                    <a:lnTo>
                      <a:pt x="3751380" y="325861"/>
                    </a:lnTo>
                    <a:lnTo>
                      <a:pt x="3742824" y="325861"/>
                    </a:lnTo>
                    <a:lnTo>
                      <a:pt x="2411975" y="325861"/>
                    </a:lnTo>
                    <a:lnTo>
                      <a:pt x="2161815" y="37996"/>
                    </a:lnTo>
                    <a:close/>
                    <a:moveTo>
                      <a:pt x="175184" y="0"/>
                    </a:moveTo>
                    <a:lnTo>
                      <a:pt x="2192269" y="0"/>
                    </a:lnTo>
                    <a:lnTo>
                      <a:pt x="2443299" y="287720"/>
                    </a:lnTo>
                    <a:lnTo>
                      <a:pt x="3742824" y="287720"/>
                    </a:lnTo>
                    <a:lnTo>
                      <a:pt x="3751380" y="287720"/>
                    </a:lnTo>
                    <a:lnTo>
                      <a:pt x="3903796" y="287720"/>
                    </a:lnTo>
                    <a:lnTo>
                      <a:pt x="4078981" y="456668"/>
                    </a:lnTo>
                    <a:lnTo>
                      <a:pt x="4078981" y="469140"/>
                    </a:lnTo>
                    <a:lnTo>
                      <a:pt x="4078981" y="494229"/>
                    </a:lnTo>
                    <a:lnTo>
                      <a:pt x="4078981" y="650706"/>
                    </a:lnTo>
                    <a:lnTo>
                      <a:pt x="4078980" y="650706"/>
                    </a:lnTo>
                    <a:lnTo>
                      <a:pt x="4078980" y="4317248"/>
                    </a:lnTo>
                    <a:lnTo>
                      <a:pt x="4078980" y="4346107"/>
                    </a:lnTo>
                    <a:lnTo>
                      <a:pt x="4078980" y="4515635"/>
                    </a:lnTo>
                    <a:lnTo>
                      <a:pt x="3910032" y="4690819"/>
                    </a:lnTo>
                    <a:lnTo>
                      <a:pt x="3897560" y="4690819"/>
                    </a:lnTo>
                    <a:lnTo>
                      <a:pt x="3872472" y="4690819"/>
                    </a:lnTo>
                    <a:lnTo>
                      <a:pt x="3759211" y="4690819"/>
                    </a:lnTo>
                    <a:lnTo>
                      <a:pt x="3759211" y="4690964"/>
                    </a:lnTo>
                    <a:lnTo>
                      <a:pt x="351964" y="4690964"/>
                    </a:lnTo>
                    <a:lnTo>
                      <a:pt x="351964" y="4690820"/>
                    </a:lnTo>
                    <a:lnTo>
                      <a:pt x="206364" y="4690820"/>
                    </a:lnTo>
                    <a:lnTo>
                      <a:pt x="181420" y="4690820"/>
                    </a:lnTo>
                    <a:lnTo>
                      <a:pt x="168948" y="4690820"/>
                    </a:lnTo>
                    <a:lnTo>
                      <a:pt x="0" y="4515636"/>
                    </a:lnTo>
                    <a:lnTo>
                      <a:pt x="0" y="4308547"/>
                    </a:lnTo>
                    <a:lnTo>
                      <a:pt x="0" y="4279688"/>
                    </a:lnTo>
                    <a:lnTo>
                      <a:pt x="0" y="400401"/>
                    </a:lnTo>
                    <a:lnTo>
                      <a:pt x="0" y="370671"/>
                    </a:lnTo>
                    <a:lnTo>
                      <a:pt x="0" y="206364"/>
                    </a:lnTo>
                    <a:lnTo>
                      <a:pt x="0" y="181420"/>
                    </a:lnTo>
                    <a:lnTo>
                      <a:pt x="0" y="1689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0" name="AutoShape 40"/>
              <p:cNvSpPr/>
              <p:nvPr/>
            </p:nvSpPr>
            <p:spPr>
              <a:xfrm flipH="1">
                <a:off x="10618235" y="2182782"/>
                <a:ext cx="863693" cy="95157"/>
              </a:xfrm>
              <a:custGeom>
                <a:avLst/>
                <a:gdLst/>
                <a:ahLst/>
                <a:cxnLst/>
                <a:rect l="l" t="t" r="r" b="b"/>
                <a:pathLst>
                  <a:path w="1356083" h="190121">
                    <a:moveTo>
                      <a:pt x="221446" y="0"/>
                    </a:moveTo>
                    <a:lnTo>
                      <a:pt x="226087" y="0"/>
                    </a:lnTo>
                    <a:lnTo>
                      <a:pt x="237833" y="0"/>
                    </a:lnTo>
                    <a:lnTo>
                      <a:pt x="1356083" y="0"/>
                    </a:lnTo>
                    <a:lnTo>
                      <a:pt x="1356083" y="20738"/>
                    </a:lnTo>
                    <a:lnTo>
                      <a:pt x="231307" y="20738"/>
                    </a:lnTo>
                    <a:lnTo>
                      <a:pt x="142700" y="106300"/>
                    </a:lnTo>
                    <a:lnTo>
                      <a:pt x="142700" y="75410"/>
                    </a:lnTo>
                    <a:close/>
                    <a:moveTo>
                      <a:pt x="116741" y="0"/>
                    </a:moveTo>
                    <a:lnTo>
                      <a:pt x="197082" y="0"/>
                    </a:lnTo>
                    <a:lnTo>
                      <a:pt x="0" y="190121"/>
                    </a:lnTo>
                    <a:lnTo>
                      <a:pt x="0" y="109780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AutoShape 41"/>
              <p:cNvSpPr/>
              <p:nvPr/>
            </p:nvSpPr>
            <p:spPr>
              <a:xfrm flipH="1">
                <a:off x="9296326" y="2178137"/>
                <a:ext cx="750178" cy="76358"/>
              </a:xfrm>
              <a:custGeom>
                <a:avLst/>
                <a:gdLst/>
                <a:ahLst/>
                <a:cxnLst/>
                <a:rect l="l" t="t" r="r" b="b"/>
                <a:pathLst>
                  <a:path w="1177853" h="152561">
                    <a:moveTo>
                      <a:pt x="964818" y="0"/>
                    </a:moveTo>
                    <a:lnTo>
                      <a:pt x="1041099" y="0"/>
                    </a:lnTo>
                    <a:lnTo>
                      <a:pt x="1177853" y="152561"/>
                    </a:lnTo>
                    <a:lnTo>
                      <a:pt x="1101572" y="152561"/>
                    </a:lnTo>
                    <a:close/>
                    <a:moveTo>
                      <a:pt x="827484" y="0"/>
                    </a:moveTo>
                    <a:lnTo>
                      <a:pt x="903765" y="0"/>
                    </a:lnTo>
                    <a:lnTo>
                      <a:pt x="1040664" y="152561"/>
                    </a:lnTo>
                    <a:lnTo>
                      <a:pt x="964383" y="152561"/>
                    </a:lnTo>
                    <a:close/>
                    <a:moveTo>
                      <a:pt x="690295" y="0"/>
                    </a:moveTo>
                    <a:lnTo>
                      <a:pt x="766576" y="0"/>
                    </a:lnTo>
                    <a:lnTo>
                      <a:pt x="903475" y="152561"/>
                    </a:lnTo>
                    <a:lnTo>
                      <a:pt x="827049" y="152561"/>
                    </a:lnTo>
                    <a:close/>
                    <a:moveTo>
                      <a:pt x="553106" y="0"/>
                    </a:moveTo>
                    <a:lnTo>
                      <a:pt x="629387" y="0"/>
                    </a:lnTo>
                    <a:lnTo>
                      <a:pt x="766141" y="152561"/>
                    </a:lnTo>
                    <a:lnTo>
                      <a:pt x="689860" y="152561"/>
                    </a:lnTo>
                    <a:close/>
                    <a:moveTo>
                      <a:pt x="415917" y="0"/>
                    </a:moveTo>
                    <a:lnTo>
                      <a:pt x="492198" y="0"/>
                    </a:lnTo>
                    <a:lnTo>
                      <a:pt x="628951" y="152561"/>
                    </a:lnTo>
                    <a:lnTo>
                      <a:pt x="552671" y="152561"/>
                    </a:lnTo>
                    <a:close/>
                    <a:moveTo>
                      <a:pt x="0" y="0"/>
                    </a:moveTo>
                    <a:lnTo>
                      <a:pt x="352544" y="0"/>
                    </a:lnTo>
                    <a:lnTo>
                      <a:pt x="489298" y="152561"/>
                    </a:lnTo>
                    <a:lnTo>
                      <a:pt x="136754" y="152561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2" name="AutoShape 42"/>
              <p:cNvSpPr/>
              <p:nvPr/>
            </p:nvSpPr>
            <p:spPr>
              <a:xfrm flipH="1">
                <a:off x="10929225" y="2126893"/>
                <a:ext cx="619760" cy="242793"/>
              </a:xfrm>
              <a:custGeom>
                <a:avLst/>
                <a:gdLst/>
                <a:ahLst/>
                <a:cxnLst/>
                <a:rect l="l" t="t" r="r" b="b"/>
                <a:pathLst>
                  <a:path w="973084" h="485092">
                    <a:moveTo>
                      <a:pt x="973085" y="56848"/>
                    </a:moveTo>
                    <a:lnTo>
                      <a:pt x="973085" y="0"/>
                    </a:lnTo>
                    <a:lnTo>
                      <a:pt x="181420" y="0"/>
                    </a:lnTo>
                    <a:lnTo>
                      <a:pt x="0" y="175184"/>
                    </a:lnTo>
                    <a:lnTo>
                      <a:pt x="0" y="187656"/>
                    </a:lnTo>
                    <a:lnTo>
                      <a:pt x="0" y="212744"/>
                    </a:lnTo>
                    <a:lnTo>
                      <a:pt x="0" y="485092"/>
                    </a:lnTo>
                    <a:lnTo>
                      <a:pt x="56848" y="485092"/>
                    </a:lnTo>
                    <a:lnTo>
                      <a:pt x="56848" y="188671"/>
                    </a:lnTo>
                    <a:lnTo>
                      <a:pt x="193747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46999">
                    <a:srgbClr val="3141E6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3" name="AutoShape 43"/>
              <p:cNvSpPr/>
              <p:nvPr/>
            </p:nvSpPr>
            <p:spPr>
              <a:xfrm flipH="1">
                <a:off x="8939064" y="2270971"/>
                <a:ext cx="253631" cy="147127"/>
              </a:xfrm>
              <a:custGeom>
                <a:avLst/>
                <a:gdLst/>
                <a:ahLst/>
                <a:cxnLst/>
                <a:rect l="l" t="t" r="r" b="b"/>
                <a:pathLst>
                  <a:path w="398225" h="293955">
                    <a:moveTo>
                      <a:pt x="0" y="56848"/>
                    </a:moveTo>
                    <a:lnTo>
                      <a:pt x="0" y="0"/>
                    </a:lnTo>
                    <a:lnTo>
                      <a:pt x="216805" y="0"/>
                    </a:lnTo>
                    <a:lnTo>
                      <a:pt x="398225" y="175184"/>
                    </a:lnTo>
                    <a:lnTo>
                      <a:pt x="398225" y="187656"/>
                    </a:lnTo>
                    <a:lnTo>
                      <a:pt x="398225" y="212599"/>
                    </a:lnTo>
                    <a:lnTo>
                      <a:pt x="398225" y="293956"/>
                    </a:lnTo>
                    <a:lnTo>
                      <a:pt x="341377" y="293956"/>
                    </a:lnTo>
                    <a:lnTo>
                      <a:pt x="341377" y="188671"/>
                    </a:lnTo>
                    <a:lnTo>
                      <a:pt x="204478" y="56848"/>
                    </a:lnTo>
                    <a:close/>
                  </a:path>
                </a:pathLst>
              </a:custGeom>
              <a:gradFill>
                <a:gsLst>
                  <a:gs pos="0">
                    <a:srgbClr val="3141E6">
                      <a:alpha val="100000"/>
                      <a:lumMod val="60000"/>
                      <a:lumOff val="40000"/>
                    </a:srgbClr>
                  </a:gs>
                  <a:gs pos="44999">
                    <a:srgbClr val="3141E6">
                      <a:alpha val="100000"/>
                    </a:srgbClr>
                  </a:gs>
                  <a:gs pos="100000">
                    <a:srgbClr val="428AF3">
                      <a:alpha val="100000"/>
                    </a:srgbClr>
                  </a:gs>
                </a:gsLst>
                <a:lin ang="5400000"/>
              </a:gradFill>
              <a:ln>
                <a:prstDash val="solid"/>
                <a:headEnd type="none"/>
                <a:tailEnd type="none"/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8952826" y="2137635"/>
                <a:ext cx="2583875" cy="3417431"/>
                <a:chOff x="8952826" y="2137635"/>
                <a:chExt cx="2583875" cy="3417431"/>
              </a:xfrm>
            </p:grpSpPr>
            <p:sp>
              <p:nvSpPr>
                <p:cNvPr id="45" name="AutoShape 45"/>
                <p:cNvSpPr/>
                <p:nvPr/>
              </p:nvSpPr>
              <p:spPr>
                <a:xfrm flipH="1">
                  <a:off x="8952826" y="2137635"/>
                  <a:ext cx="2583875" cy="32840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53684" h="3372822">
                      <a:moveTo>
                        <a:pt x="113736" y="0"/>
                      </a:moveTo>
                      <a:lnTo>
                        <a:pt x="1415393" y="0"/>
                      </a:lnTo>
                      <a:lnTo>
                        <a:pt x="1585950" y="153935"/>
                      </a:lnTo>
                      <a:lnTo>
                        <a:pt x="2540044" y="153935"/>
                      </a:lnTo>
                      <a:lnTo>
                        <a:pt x="2653684" y="233400"/>
                      </a:lnTo>
                      <a:lnTo>
                        <a:pt x="2653684" y="1207219"/>
                      </a:lnTo>
                      <a:lnTo>
                        <a:pt x="2653684" y="2319538"/>
                      </a:lnTo>
                      <a:lnTo>
                        <a:pt x="2653684" y="3293357"/>
                      </a:lnTo>
                      <a:lnTo>
                        <a:pt x="2552659" y="3372822"/>
                      </a:lnTo>
                      <a:lnTo>
                        <a:pt x="107381" y="3372822"/>
                      </a:lnTo>
                      <a:lnTo>
                        <a:pt x="0" y="3288362"/>
                      </a:lnTo>
                      <a:lnTo>
                        <a:pt x="0" y="2314543"/>
                      </a:lnTo>
                      <a:lnTo>
                        <a:pt x="0" y="1053284"/>
                      </a:lnTo>
                      <a:lnTo>
                        <a:pt x="0" y="7946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28AF3">
                        <a:alpha val="30196"/>
                      </a:srgbClr>
                    </a:gs>
                    <a:gs pos="87999">
                      <a:srgbClr val="428AF3">
                        <a:alpha val="0"/>
                      </a:srgbClr>
                    </a:gs>
                  </a:gsLst>
                  <a:lin ang="5400000"/>
                </a:gradFill>
                <a:ln>
                  <a:prstDash val="solid"/>
                  <a:headEnd type="none"/>
                  <a:tailEnd type="none"/>
                </a:ln>
              </p:spPr>
            </p:sp>
            <p:sp>
              <p:nvSpPr>
                <p:cNvPr id="46" name="TextBox 46"/>
                <p:cNvSpPr txBox="1"/>
                <p:nvPr/>
              </p:nvSpPr>
              <p:spPr>
                <a:xfrm flipH="1">
                  <a:off x="9020252" y="3385725"/>
                  <a:ext cx="2449860" cy="778646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b" anchorCtr="0"/>
                <a:lstStyle/>
                <a:p>
                  <a:pPr algn="l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600" b="1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便捷导出分享</a:t>
                  </a:r>
                  <a:endParaRPr lang="en-US" sz="1100"/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 flipH="1">
                  <a:off x="9020250" y="4278772"/>
                  <a:ext cx="2449860" cy="1276294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square" lIns="91440" tIns="45720" rIns="91440" bIns="45720" rtlCol="0" anchor="t" anchorCtr="0"/>
                <a:lstStyle/>
                <a:p>
                  <a:pPr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r>
                    <a:rPr lang="en-US" sz="1000" b="0" i="0" strike="noStrike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微软雅黑"/>
                      <a:ea typeface="微软雅黑"/>
                      <a:cs typeface="微软雅黑"/>
                    </a:rPr>
                    <a:t>生成的报告可轻松导出为文档或直接打印，无需借助额外工具。</a:t>
                  </a:r>
                  <a:endParaRPr lang="en-US" sz="1100"/>
                </a:p>
              </p:txBody>
            </p:sp>
            <p:sp>
              <p:nvSpPr>
                <p:cNvPr id="48" name="TextBox 48"/>
                <p:cNvSpPr txBox="1"/>
                <p:nvPr/>
              </p:nvSpPr>
              <p:spPr>
                <a:xfrm flipH="1">
                  <a:off x="9756398" y="2439028"/>
                  <a:ext cx="975251" cy="823705"/>
                </a:xfrm>
                <a:prstGeom prst="rect">
                  <a:avLst/>
                </a:prstGeom>
                <a:ln>
                  <a:headEnd type="none"/>
                  <a:tailEnd type="none"/>
                </a:ln>
              </p:spPr>
              <p:txBody>
                <a:bodyPr vert="horz" wrap="none" lIns="91440" tIns="45720" rIns="91440" bIns="45720" rtlCol="0" anchor="b" anchorCtr="0"/>
                <a:lstStyle/>
                <a:p>
                  <a:pPr algn="ctr">
                    <a:lnSpc>
                      <a:spcPct val="108000"/>
                    </a:lnSpc>
                    <a:defRPr/>
                  </a:pPr>
                  <a:r>
                    <a:rPr lang="en-US" sz="4600" b="1" i="1">
                      <a:ln/>
                      <a:solidFill>
                        <a:srgbClr val="000000">
                          <a:alpha val="100000"/>
                        </a:srgbClr>
                      </a:solidFill>
                      <a:latin typeface="Arial"/>
                      <a:ea typeface="Arial"/>
                      <a:cs typeface="Arial"/>
                    </a:rPr>
                    <a:t>4</a:t>
                  </a:r>
                  <a:endParaRPr lang="en-US" sz="1100"/>
                </a:p>
              </p:txBody>
            </p:sp>
          </p:grpSp>
        </p:grpSp>
      </p:grpSp>
      <p:sp>
        <p:nvSpPr>
          <p:cNvPr id="49" name="TextBox 49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深度学情分析报告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60db542-a317-4c04-bd68-b38f1c13367d"/>
          <p:cNvGrpSpPr/>
          <p:nvPr/>
        </p:nvGrpSpPr>
        <p:grpSpPr>
          <a:xfrm>
            <a:off x="660399" y="1130300"/>
            <a:ext cx="10858501" cy="5003800"/>
            <a:chOff x="660399" y="1130300"/>
            <a:chExt cx="10858501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300"/>
              <a:ext cx="10858500" cy="553534"/>
            </a:xfrm>
            <a:prstGeom prst="rect">
              <a:avLst/>
            </a:prstGeom>
            <a:ln>
              <a:prstDash val="solid"/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内置完整教学工具链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1970000"/>
              <a:ext cx="2570711" cy="4164100"/>
              <a:chOff x="660400" y="1970000"/>
              <a:chExt cx="2570711" cy="4164100"/>
            </a:xfrm>
          </p:grpSpPr>
          <p:sp>
            <p:nvSpPr>
              <p:cNvPr id="5" name="AutoShape 5"/>
              <p:cNvSpPr/>
              <p:nvPr/>
            </p:nvSpPr>
            <p:spPr>
              <a:xfrm>
                <a:off x="660400" y="1970000"/>
                <a:ext cx="2570711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758390" y="2598235"/>
                <a:ext cx="2387817" cy="5294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全局管理后台</a:t>
                </a:r>
                <a:endParaRPr lang="en-US" sz="110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758390" y="3127653"/>
                <a:ext cx="2387818" cy="28074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管理员可批量管理所有教师、班级和学生信息，并精细控制平台使用权限。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806035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60000">
                    <a:srgbClr val="428AF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3422996" y="1969999"/>
              <a:ext cx="2570711" cy="4164100"/>
              <a:chOff x="3422996" y="1969999"/>
              <a:chExt cx="2570711" cy="4164100"/>
            </a:xfrm>
          </p:grpSpPr>
          <p:sp>
            <p:nvSpPr>
              <p:cNvPr id="10" name="AutoShape 10"/>
              <p:cNvSpPr/>
              <p:nvPr/>
            </p:nvSpPr>
            <p:spPr>
              <a:xfrm>
                <a:off x="3422996" y="1969999"/>
                <a:ext cx="2570711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3520986" y="2598235"/>
                <a:ext cx="2387817" cy="5294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提示词模板库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3520986" y="3127653"/>
                <a:ext cx="2387818" cy="28074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按学科与题型分类，提供丰富的AI提示词模板，大幅降低AI使用门槛。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3569669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60000">
                    <a:srgbClr val="428AF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6185593" y="1969999"/>
              <a:ext cx="2570711" cy="4164100"/>
              <a:chOff x="6185593" y="1969999"/>
              <a:chExt cx="2570711" cy="4164100"/>
            </a:xfrm>
          </p:grpSpPr>
          <p:sp>
            <p:nvSpPr>
              <p:cNvPr id="15" name="AutoShape 15"/>
              <p:cNvSpPr/>
              <p:nvPr/>
            </p:nvSpPr>
            <p:spPr>
              <a:xfrm>
                <a:off x="6185593" y="1969999"/>
                <a:ext cx="2570711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6283583" y="2598235"/>
                <a:ext cx="2387817" cy="5294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公开资源共享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6283583" y="3127653"/>
                <a:ext cx="2387818" cy="28074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教师可将优质教学任务设为“游客公开”或“教师共享”，实现资源的跨班级、跨校流通。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333303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60000">
                    <a:srgbClr val="428AF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8948189" y="1969999"/>
              <a:ext cx="2570711" cy="4164100"/>
              <a:chOff x="8948189" y="1969999"/>
              <a:chExt cx="2570711" cy="4164100"/>
            </a:xfrm>
          </p:grpSpPr>
          <p:sp>
            <p:nvSpPr>
              <p:cNvPr id="20" name="AutoShape 20"/>
              <p:cNvSpPr/>
              <p:nvPr/>
            </p:nvSpPr>
            <p:spPr>
              <a:xfrm>
                <a:off x="8948189" y="1969999"/>
                <a:ext cx="2570711" cy="4164100"/>
              </a:xfrm>
              <a:prstGeom prst="roundRect">
                <a:avLst>
                  <a:gd name="adj" fmla="val 1413"/>
                </a:avLst>
              </a:prstGeom>
              <a:solidFill>
                <a:srgbClr val="FFFFFF">
                  <a:alpha val="100000"/>
                </a:srgbClr>
              </a:solidFill>
              <a:ln w="6350">
                <a:solidFill>
                  <a:srgbClr val="000000">
                    <a:alpha val="50196"/>
                  </a:srgbClr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9046179" y="2598235"/>
                <a:ext cx="2387817" cy="529419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ctr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私有班级管理</a:t>
                </a:r>
                <a:endParaRPr lang="en-US" sz="1100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9046179" y="3127653"/>
                <a:ext cx="2387818" cy="280748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0000" tIns="46800" rIns="90000" bIns="4680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教师可维护自己的学生名单，按班级分组，并灵活设置文件夹的访问权限。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096937" y="2164556"/>
                <a:ext cx="387442" cy="376296"/>
              </a:xfrm>
              <a:prstGeom prst="round2SameRect">
                <a:avLst>
                  <a:gd name="adj1" fmla="val 0"/>
                  <a:gd name="adj2" fmla="val 28850"/>
                </a:avLst>
              </a:prstGeom>
              <a:gradFill>
                <a:gsLst>
                  <a:gs pos="0">
                    <a:srgbClr val="428AF3">
                      <a:alpha val="100000"/>
                      <a:lumMod val="60000"/>
                      <a:lumOff val="40000"/>
                    </a:srgbClr>
                  </a:gs>
                  <a:gs pos="60000">
                    <a:srgbClr val="428AF3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丰富功能矩阵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871940ab-72c2-47de-8a84-852be01006ba"/>
          <p:cNvGrpSpPr/>
          <p:nvPr/>
        </p:nvGrpSpPr>
        <p:grpSpPr>
          <a:xfrm>
            <a:off x="660399" y="1130299"/>
            <a:ext cx="10858501" cy="5003802"/>
            <a:chOff x="660399" y="1130299"/>
            <a:chExt cx="10858501" cy="5003802"/>
          </a:xfrm>
        </p:grpSpPr>
        <p:sp>
          <p:nvSpPr>
            <p:cNvPr id="3" name="TextBox 3"/>
            <p:cNvSpPr txBox="1"/>
            <p:nvPr/>
          </p:nvSpPr>
          <p:spPr>
            <a:xfrm>
              <a:off x="660399" y="1130299"/>
              <a:ext cx="10858500" cy="900107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ctr" anchorCtr="0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以高中物理课为例</a:t>
              </a:r>
              <a:endParaRPr lang="en-US" sz="1100"/>
            </a:p>
          </p:txBody>
        </p:sp>
        <p:sp>
          <p:nvSpPr>
            <p:cNvPr id="4" name="AutoShape 4"/>
            <p:cNvSpPr/>
            <p:nvPr/>
          </p:nvSpPr>
          <p:spPr>
            <a:xfrm>
              <a:off x="660400" y="2133600"/>
              <a:ext cx="10858500" cy="0"/>
            </a:xfrm>
            <a:prstGeom prst="line">
              <a:avLst/>
            </a:prstGeom>
            <a:ln w="6350">
              <a:solidFill>
                <a:srgbClr val="428AF3">
                  <a:alpha val="100000"/>
                </a:srgbClr>
              </a:solidFill>
              <a:prstDash val="solid"/>
              <a:headEnd type="none"/>
              <a:tailEnd type="none"/>
            </a:ln>
          </p:spPr>
        </p:sp>
        <p:grpSp>
          <p:nvGrpSpPr>
            <p:cNvPr id="5" name="Group 5"/>
            <p:cNvGrpSpPr/>
            <p:nvPr/>
          </p:nvGrpSpPr>
          <p:grpSpPr>
            <a:xfrm>
              <a:off x="660399" y="2491161"/>
              <a:ext cx="5236629" cy="1656882"/>
              <a:chOff x="660399" y="2491161"/>
              <a:chExt cx="5236629" cy="1656882"/>
            </a:xfrm>
          </p:grpSpPr>
          <p:sp>
            <p:nvSpPr>
              <p:cNvPr id="6" name="AutoShape 6"/>
              <p:cNvSpPr/>
              <p:nvPr/>
            </p:nvSpPr>
            <p:spPr>
              <a:xfrm>
                <a:off x="660399" y="2491161"/>
                <a:ext cx="5236629" cy="1656882"/>
              </a:xfrm>
              <a:prstGeom prst="roundRect">
                <a:avLst>
                  <a:gd name="adj" fmla="val 8996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494344" y="2609859"/>
                <a:ext cx="4216400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课前准备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494344" y="3275301"/>
                <a:ext cx="4216400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教师新建任务文件夹，使用DeepSeek生成“牛顿第二定律”互动网页，并设置仅本班学生可见。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846682" y="2792896"/>
                <a:ext cx="501154" cy="482408"/>
              </a:xfrm>
              <a:prstGeom prst="round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6282270" y="2491161"/>
              <a:ext cx="5236629" cy="1656882"/>
              <a:chOff x="6282270" y="2491161"/>
              <a:chExt cx="5236629" cy="1656882"/>
            </a:xfrm>
          </p:grpSpPr>
          <p:sp>
            <p:nvSpPr>
              <p:cNvPr id="11" name="AutoShape 11"/>
              <p:cNvSpPr/>
              <p:nvPr/>
            </p:nvSpPr>
            <p:spPr>
              <a:xfrm>
                <a:off x="6282270" y="2491161"/>
                <a:ext cx="5236629" cy="1656882"/>
              </a:xfrm>
              <a:prstGeom prst="roundRect">
                <a:avLst>
                  <a:gd name="adj" fmla="val 8996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7116215" y="2609859"/>
                <a:ext cx="4216400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课堂互动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116215" y="3275301"/>
                <a:ext cx="4216400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学生访问内网链接，完成实验数据填空并上传截图，数据实时返回至教师端。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468553" y="2792896"/>
                <a:ext cx="501154" cy="482408"/>
              </a:xfrm>
              <a:prstGeom prst="round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660399" y="4477219"/>
              <a:ext cx="5236629" cy="1656882"/>
              <a:chOff x="660399" y="4477219"/>
              <a:chExt cx="5236629" cy="1656882"/>
            </a:xfrm>
          </p:grpSpPr>
          <p:sp>
            <p:nvSpPr>
              <p:cNvPr id="16" name="AutoShape 16"/>
              <p:cNvSpPr/>
              <p:nvPr/>
            </p:nvSpPr>
            <p:spPr>
              <a:xfrm>
                <a:off x="660399" y="4477219"/>
                <a:ext cx="5236629" cy="1656882"/>
              </a:xfrm>
              <a:prstGeom prst="roundRect">
                <a:avLst>
                  <a:gd name="adj" fmla="val 8996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1494344" y="4595917"/>
                <a:ext cx="4216400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课后分析</a:t>
                </a:r>
                <a:endParaRPr lang="en-US" sz="1100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494344" y="5261359"/>
                <a:ext cx="4216400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教师查看数据，AI自动生成学情报告，精准识别出“合力方向分析”是班级共性薄弱点。</a:t>
                </a:r>
                <a:endParaRPr lang="en-US" sz="1100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6682" y="4778951"/>
                <a:ext cx="501154" cy="482408"/>
              </a:xfrm>
              <a:prstGeom prst="round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282270" y="4477219"/>
              <a:ext cx="5236629" cy="1656882"/>
              <a:chOff x="6282270" y="4477219"/>
              <a:chExt cx="5236629" cy="1656882"/>
            </a:xfrm>
          </p:grpSpPr>
          <p:sp>
            <p:nvSpPr>
              <p:cNvPr id="21" name="AutoShape 21"/>
              <p:cNvSpPr/>
              <p:nvPr/>
            </p:nvSpPr>
            <p:spPr>
              <a:xfrm>
                <a:off x="6282270" y="4477219"/>
                <a:ext cx="5236629" cy="1656882"/>
              </a:xfrm>
              <a:prstGeom prst="roundRect">
                <a:avLst>
                  <a:gd name="adj" fmla="val 8996"/>
                </a:avLst>
              </a:prstGeom>
              <a:solidFill>
                <a:srgbClr val="000000">
                  <a:alpha val="7843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7116215" y="4595917"/>
                <a:ext cx="4216400" cy="665445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0"/>
              <a:lstStyle/>
              <a:p>
                <a:pPr algn="l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资源共享</a:t>
                </a:r>
                <a:endParaRPr lang="en-US" sz="1100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116215" y="5261359"/>
                <a:ext cx="4216400" cy="754044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教师将优化后的任务设为“教师共享”，校内其他物理老师可直接复用此优质资源。</a:t>
                </a:r>
                <a:endParaRPr lang="en-US" sz="1100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468553" y="4778951"/>
                <a:ext cx="501154" cy="482408"/>
              </a:xfrm>
              <a:prstGeom prst="roundRect">
                <a:avLst/>
              </a:prstGeom>
              <a:solidFill>
                <a:srgbClr val="428AF3">
                  <a:alpha val="100000"/>
                </a:srgbClr>
              </a:solidFill>
              <a:ln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6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04</a:t>
                </a:r>
                <a:endParaRPr lang="en-US" sz="1100"/>
              </a:p>
            </p:txBody>
          </p:sp>
        </p:grpSp>
      </p:grpSp>
      <p:sp>
        <p:nvSpPr>
          <p:cNvPr id="25" name="TextBox 25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教学应用全流程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77769e85-6298-4777-a143-c5a5615d2d8f"/>
          <p:cNvGrpSpPr/>
          <p:nvPr/>
        </p:nvGrpSpPr>
        <p:grpSpPr>
          <a:xfrm>
            <a:off x="660400" y="1130300"/>
            <a:ext cx="10858500" cy="5003800"/>
            <a:chOff x="660400" y="1130300"/>
            <a:chExt cx="10858500" cy="5003800"/>
          </a:xfrm>
        </p:grpSpPr>
        <p:sp>
          <p:nvSpPr>
            <p:cNvPr id="3" name="TextBox 3"/>
            <p:cNvSpPr txBox="1"/>
            <p:nvPr/>
          </p:nvSpPr>
          <p:spPr>
            <a:xfrm>
              <a:off x="660400" y="1130300"/>
              <a:ext cx="10858500" cy="900112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0"/>
            <a:lstStyle/>
            <a:p>
              <a:pPr algn="l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满足不同场景需求</a:t>
              </a:r>
              <a:endParaRPr lang="en-US" sz="1100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660400" y="2249210"/>
              <a:ext cx="3386981" cy="3884890"/>
              <a:chOff x="660400" y="2030412"/>
              <a:chExt cx="2520000" cy="3884890"/>
            </a:xfrm>
          </p:grpSpPr>
          <p:sp>
            <p:nvSpPr>
              <p:cNvPr id="5" name="TextBox 5"/>
              <p:cNvSpPr txBox="1"/>
              <p:nvPr/>
            </p:nvSpPr>
            <p:spPr>
              <a:xfrm>
                <a:off x="660400" y="2709000"/>
                <a:ext cx="2520000" cy="720000"/>
              </a:xfrm>
              <a:prstGeom prst="roundRect">
                <a:avLst/>
              </a:pr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个人版</a:t>
                </a:r>
                <a:endParaRPr lang="en-US" sz="1100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660400" y="3575302"/>
                <a:ext cx="2520000" cy="234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特点是单机可执行，全功能开放，数据存储于本地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非常适合个体教师日常教学、公开课或个人课题研究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660400" y="2030412"/>
                <a:ext cx="2520000" cy="6785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428A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4396160" y="2249210"/>
              <a:ext cx="3386981" cy="3884890"/>
              <a:chOff x="660400" y="2030412"/>
              <a:chExt cx="2520000" cy="3884890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660400" y="2709000"/>
                <a:ext cx="2520000" cy="720000"/>
              </a:xfrm>
              <a:prstGeom prst="roundRect">
                <a:avLst/>
              </a:pr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校园版</a:t>
                </a:r>
                <a:endParaRPr lang="en-US" sz="1100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660400" y="3575302"/>
                <a:ext cx="2520000" cy="234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 algn="l">
                  <a:lnSpc>
                    <a:spcPct val="120000"/>
                  </a:lnSpc>
                  <a:defRPr/>
                </a:pP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特点是支持多教师多班级管理，可分权限，支持公网部署和域名绑定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r>
                  <a:rPr lang="en-US" sz="1200" b="0" i="0" dirty="0" err="1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适合学校整体信息化建设或区级教研平台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660400" y="2030412"/>
                <a:ext cx="2520000" cy="6785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428A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8131919" y="2249210"/>
              <a:ext cx="3386981" cy="3884890"/>
              <a:chOff x="660400" y="2030412"/>
              <a:chExt cx="2520000" cy="3884890"/>
            </a:xfrm>
          </p:grpSpPr>
          <p:sp>
            <p:nvSpPr>
              <p:cNvPr id="13" name="TextBox 13"/>
              <p:cNvSpPr txBox="1"/>
              <p:nvPr/>
            </p:nvSpPr>
            <p:spPr>
              <a:xfrm>
                <a:off x="660400" y="2709000"/>
                <a:ext cx="2520000" cy="720000"/>
              </a:xfrm>
              <a:prstGeom prst="roundRect">
                <a:avLst/>
              </a:prstGeom>
              <a:gradFill>
                <a:gsLst>
                  <a:gs pos="0">
                    <a:srgbClr val="428AF3">
                      <a:alpha val="100000"/>
                    </a:srgbClr>
                  </a:gs>
                  <a:gs pos="100000">
                    <a:srgbClr val="3141E6">
                      <a:alpha val="100000"/>
                    </a:srgbClr>
                  </a:gs>
                </a:gsLst>
                <a:lin ang="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18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获取方式</a:t>
                </a:r>
                <a:endParaRPr lang="en-US" sz="1100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60400" y="3575302"/>
                <a:ext cx="2520000" cy="2340000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0"/>
              <a:lstStyle/>
              <a:p>
                <a:pPr>
                  <a:lnSpc>
                    <a:spcPct val="120000"/>
                  </a:lnSpc>
                  <a:defRPr/>
                </a:pPr>
                <a:r>
                  <a:rPr lang="en-US" sz="120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个人版</a:t>
                </a:r>
                <a:r>
                  <a:rPr lang="zh-CN" altLang="en-US" sz="120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、</a:t>
                </a:r>
                <a:r>
                  <a:rPr lang="en-US" sz="120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校园版</a:t>
                </a:r>
                <a:r>
                  <a:rPr lang="zh-CN" altLang="en-US" sz="120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都</a:t>
                </a:r>
                <a:r>
                  <a:rPr lang="en-US" sz="120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可访问官网免费下载</a:t>
                </a:r>
                <a:r>
                  <a:rPr lang="zh-CN" altLang="en-US" sz="120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使用</a:t>
                </a:r>
                <a:r>
                  <a:rPr 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校园版</a:t>
                </a:r>
                <a:r>
                  <a:rPr lang="zh-CN" altLang="en-US" sz="1200" b="0" i="0" dirty="0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内置的一键生成网页功能</a:t>
                </a:r>
                <a:r>
                  <a:rPr lang="en-US" sz="1200" b="0" i="0" dirty="0" err="1" smtClean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则需联系技术支持获取定制化部署服务</a:t>
                </a:r>
                <a:r>
                  <a:rPr lang="en-US" sz="1200" b="0" i="0" dirty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。</a:t>
                </a:r>
                <a:endParaRPr lang="en-US" sz="1100" dirty="0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60400" y="2030412"/>
                <a:ext cx="2520000" cy="6785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b" anchorCtr="0"/>
              <a:lstStyle/>
              <a:p>
                <a:pPr algn="ctr">
                  <a:defRPr/>
                </a:pPr>
                <a:r>
                  <a:rPr lang="en-US" sz="3200" b="1" i="0">
                    <a:ln/>
                    <a:solidFill>
                      <a:srgbClr val="428AF3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校园版与个人版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094f28e-28e0-4fba-a3b4-38160391f064"/>
          <p:cNvGrpSpPr/>
          <p:nvPr/>
        </p:nvGrpSpPr>
        <p:grpSpPr>
          <a:xfrm>
            <a:off x="673100" y="1130300"/>
            <a:ext cx="10845800" cy="4950164"/>
            <a:chOff x="673100" y="1130300"/>
            <a:chExt cx="10845800" cy="4950164"/>
          </a:xfrm>
        </p:grpSpPr>
        <p:grpSp>
          <p:nvGrpSpPr>
            <p:cNvPr id="3" name="Group 3"/>
            <p:cNvGrpSpPr/>
            <p:nvPr/>
          </p:nvGrpSpPr>
          <p:grpSpPr>
            <a:xfrm>
              <a:off x="2380884" y="2897969"/>
              <a:ext cx="7512350" cy="2806704"/>
              <a:chOff x="2380884" y="2897969"/>
              <a:chExt cx="7512350" cy="2806704"/>
            </a:xfrm>
          </p:grpSpPr>
          <p:sp>
            <p:nvSpPr>
              <p:cNvPr id="4" name="AutoShape 4"/>
              <p:cNvSpPr/>
              <p:nvPr/>
            </p:nvSpPr>
            <p:spPr>
              <a:xfrm>
                <a:off x="2380884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" name="AutoShape 5"/>
              <p:cNvSpPr/>
              <p:nvPr/>
            </p:nvSpPr>
            <p:spPr>
              <a:xfrm>
                <a:off x="3164463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6" name="AutoShape 6"/>
              <p:cNvSpPr/>
              <p:nvPr/>
            </p:nvSpPr>
            <p:spPr>
              <a:xfrm>
                <a:off x="2480032" y="2977621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7" name="AutoShape 7"/>
              <p:cNvSpPr/>
              <p:nvPr/>
            </p:nvSpPr>
            <p:spPr>
              <a:xfrm>
                <a:off x="2380884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8" name="AutoShape 8"/>
              <p:cNvSpPr/>
              <p:nvPr/>
            </p:nvSpPr>
            <p:spPr>
              <a:xfrm>
                <a:off x="3164463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9" name="AutoShape 9"/>
              <p:cNvSpPr/>
              <p:nvPr/>
            </p:nvSpPr>
            <p:spPr>
              <a:xfrm>
                <a:off x="2480032" y="5552894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0" name="AutoShape 10"/>
              <p:cNvSpPr/>
              <p:nvPr/>
            </p:nvSpPr>
            <p:spPr>
              <a:xfrm>
                <a:off x="4527614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1" name="AutoShape 11"/>
              <p:cNvSpPr/>
              <p:nvPr/>
            </p:nvSpPr>
            <p:spPr>
              <a:xfrm>
                <a:off x="5311193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2" name="AutoShape 12"/>
              <p:cNvSpPr/>
              <p:nvPr/>
            </p:nvSpPr>
            <p:spPr>
              <a:xfrm>
                <a:off x="4626762" y="2977621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3" name="AutoShape 13"/>
              <p:cNvSpPr/>
              <p:nvPr/>
            </p:nvSpPr>
            <p:spPr>
              <a:xfrm>
                <a:off x="4527614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4" name="AutoShape 14"/>
              <p:cNvSpPr/>
              <p:nvPr/>
            </p:nvSpPr>
            <p:spPr>
              <a:xfrm>
                <a:off x="5311193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5" name="AutoShape 15"/>
              <p:cNvSpPr/>
              <p:nvPr/>
            </p:nvSpPr>
            <p:spPr>
              <a:xfrm>
                <a:off x="4626762" y="5552894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6" name="AutoShape 16"/>
              <p:cNvSpPr/>
              <p:nvPr/>
            </p:nvSpPr>
            <p:spPr>
              <a:xfrm>
                <a:off x="6697204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7" name="AutoShape 17"/>
              <p:cNvSpPr/>
              <p:nvPr/>
            </p:nvSpPr>
            <p:spPr>
              <a:xfrm>
                <a:off x="7480783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8" name="AutoShape 18"/>
              <p:cNvSpPr/>
              <p:nvPr/>
            </p:nvSpPr>
            <p:spPr>
              <a:xfrm>
                <a:off x="6796352" y="2977621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19" name="AutoShape 19"/>
              <p:cNvSpPr/>
              <p:nvPr/>
            </p:nvSpPr>
            <p:spPr>
              <a:xfrm>
                <a:off x="6697204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0" name="AutoShape 20"/>
              <p:cNvSpPr/>
              <p:nvPr/>
            </p:nvSpPr>
            <p:spPr>
              <a:xfrm>
                <a:off x="7480783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1" name="AutoShape 21"/>
              <p:cNvSpPr/>
              <p:nvPr/>
            </p:nvSpPr>
            <p:spPr>
              <a:xfrm>
                <a:off x="6796352" y="5552894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2" name="AutoShape 22"/>
              <p:cNvSpPr/>
              <p:nvPr/>
            </p:nvSpPr>
            <p:spPr>
              <a:xfrm>
                <a:off x="8878224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3" name="AutoShape 23"/>
              <p:cNvSpPr/>
              <p:nvPr/>
            </p:nvSpPr>
            <p:spPr>
              <a:xfrm>
                <a:off x="9661803" y="2897969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4" name="AutoShape 24"/>
              <p:cNvSpPr/>
              <p:nvPr/>
            </p:nvSpPr>
            <p:spPr>
              <a:xfrm>
                <a:off x="8977372" y="2977621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5" name="AutoShape 25"/>
              <p:cNvSpPr/>
              <p:nvPr/>
            </p:nvSpPr>
            <p:spPr>
              <a:xfrm>
                <a:off x="8878224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6" name="AutoShape 26"/>
              <p:cNvSpPr/>
              <p:nvPr/>
            </p:nvSpPr>
            <p:spPr>
              <a:xfrm>
                <a:off x="9661803" y="5473242"/>
                <a:ext cx="231431" cy="231431"/>
              </a:xfrm>
              <a:prstGeom prst="ellipse">
                <a:avLst/>
              </a:prstGeom>
              <a:solidFill>
                <a:srgbClr val="778495">
                  <a:alpha val="100000"/>
                  <a:lumMod val="60000"/>
                  <a:lumOff val="4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27" name="AutoShape 27"/>
              <p:cNvSpPr/>
              <p:nvPr/>
            </p:nvSpPr>
            <p:spPr>
              <a:xfrm>
                <a:off x="8977372" y="5552894"/>
                <a:ext cx="826288" cy="72126"/>
              </a:xfrm>
              <a:prstGeom prst="roundRect">
                <a:avLst>
                  <a:gd name="adj" fmla="val 50000"/>
                </a:avLst>
              </a:prstGeom>
              <a:solidFill>
                <a:srgbClr val="778495">
                  <a:alpha val="100000"/>
                  <a:lumMod val="40000"/>
                  <a:lumOff val="60000"/>
                </a:srgbClr>
              </a:solidFill>
              <a:ln>
                <a:prstDash val="solid"/>
                <a:headEnd type="none"/>
                <a:tailEnd type="none"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73100" y="1130300"/>
              <a:ext cx="10845800" cy="1107745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t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</a:srgbClr>
                  </a:solidFill>
                  <a:latin typeface="微软雅黑"/>
                  <a:ea typeface="微软雅黑"/>
                  <a:cs typeface="微软雅黑"/>
                </a:rPr>
                <a:t>直观呈现，简洁高效</a:t>
              </a:r>
              <a:endParaRPr lang="en-US" sz="1100"/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691645" y="2486167"/>
              <a:ext cx="2063878" cy="3594297"/>
              <a:chOff x="673100" y="2486167"/>
              <a:chExt cx="1712348" cy="3594297"/>
            </a:xfrm>
          </p:grpSpPr>
          <p:sp>
            <p:nvSpPr>
              <p:cNvPr id="30" name="AutoShape 30"/>
              <p:cNvSpPr/>
              <p:nvPr/>
            </p:nvSpPr>
            <p:spPr>
              <a:xfrm>
                <a:off x="673100" y="2486167"/>
                <a:ext cx="1712348" cy="3594297"/>
              </a:xfrm>
              <a:prstGeom prst="roundRect">
                <a:avLst>
                  <a:gd name="adj" fmla="val 12255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5667" y="4577782"/>
                <a:ext cx="1707214" cy="570423"/>
              </a:xfrm>
              <a:prstGeom prst="rect">
                <a:avLst/>
              </a:prstGeom>
              <a:solidFill>
                <a:srgbClr val="428AF3">
                  <a:alpha val="100000"/>
                </a:srgbClr>
              </a:solidFill>
              <a:ln w="381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1</a:t>
                </a:r>
                <a:endParaRPr lang="en-US" sz="1100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37112" y="3789323"/>
                <a:ext cx="1584325" cy="7644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提供清晰的文件管理与一键生成入口，操作逻辑简单明了。</a:t>
                </a:r>
                <a:endParaRPr lang="en-US" sz="1100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37112" y="3250635"/>
                <a:ext cx="1584325" cy="5386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教师工作台</a:t>
                </a:r>
                <a:endParaRPr lang="en-US" sz="1100"/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2918385" y="2486167"/>
              <a:ext cx="2063878" cy="3594297"/>
              <a:chOff x="2499790" y="2486167"/>
              <a:chExt cx="1712348" cy="3594297"/>
            </a:xfrm>
          </p:grpSpPr>
          <p:sp>
            <p:nvSpPr>
              <p:cNvPr id="35" name="AutoShape 35"/>
              <p:cNvSpPr/>
              <p:nvPr/>
            </p:nvSpPr>
            <p:spPr>
              <a:xfrm>
                <a:off x="2499790" y="2486167"/>
                <a:ext cx="1712348" cy="3594297"/>
              </a:xfrm>
              <a:prstGeom prst="roundRect">
                <a:avLst>
                  <a:gd name="adj" fmla="val 12255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2502357" y="4577782"/>
                <a:ext cx="1707214" cy="570423"/>
              </a:xfrm>
              <a:prstGeom prst="rect">
                <a:avLst/>
              </a:prstGeom>
              <a:solidFill>
                <a:srgbClr val="778495">
                  <a:alpha val="70196"/>
                </a:srgbClr>
              </a:solidFill>
              <a:ln w="381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2</a:t>
                </a:r>
                <a:endParaRPr lang="en-US" sz="1100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2563802" y="3789323"/>
                <a:ext cx="1584325" cy="7644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类型选择明确，提示词模板库应用便捷，降低使用门槛。</a:t>
                </a:r>
                <a:endParaRPr lang="en-US" sz="1100"/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2563802" y="3250635"/>
                <a:ext cx="1584325" cy="5386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AI生成界面</a:t>
                </a:r>
                <a:endParaRPr lang="en-US" sz="1100"/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5099405" y="2486167"/>
              <a:ext cx="2063878" cy="3594297"/>
              <a:chOff x="4326480" y="2486167"/>
              <a:chExt cx="1712348" cy="3594297"/>
            </a:xfrm>
          </p:grpSpPr>
          <p:sp>
            <p:nvSpPr>
              <p:cNvPr id="40" name="AutoShape 40"/>
              <p:cNvSpPr/>
              <p:nvPr/>
            </p:nvSpPr>
            <p:spPr>
              <a:xfrm>
                <a:off x="4326480" y="2486167"/>
                <a:ext cx="1712348" cy="3594297"/>
              </a:xfrm>
              <a:prstGeom prst="roundRect">
                <a:avLst>
                  <a:gd name="adj" fmla="val 12255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4329047" y="4577782"/>
                <a:ext cx="1707214" cy="570423"/>
              </a:xfrm>
              <a:prstGeom prst="rect">
                <a:avLst/>
              </a:prstGeom>
              <a:solidFill>
                <a:srgbClr val="428AF3">
                  <a:alpha val="100000"/>
                </a:srgbClr>
              </a:solidFill>
              <a:ln w="381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3</a:t>
                </a:r>
                <a:endParaRPr lang="en-US" sz="1100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90492" y="3789323"/>
                <a:ext cx="1584325" cy="7644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实时分析图表、题目分布、提交详情一目了然。</a:t>
                </a:r>
                <a:endParaRPr lang="en-US" sz="1100"/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390492" y="3250635"/>
                <a:ext cx="1584325" cy="5386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数据管理看板</a:t>
                </a:r>
                <a:endParaRPr lang="en-US" sz="1100"/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7223275" y="2486167"/>
              <a:ext cx="2063878" cy="3594297"/>
              <a:chOff x="6153170" y="2486167"/>
              <a:chExt cx="1712348" cy="3594297"/>
            </a:xfrm>
          </p:grpSpPr>
          <p:sp>
            <p:nvSpPr>
              <p:cNvPr id="45" name="AutoShape 45"/>
              <p:cNvSpPr/>
              <p:nvPr/>
            </p:nvSpPr>
            <p:spPr>
              <a:xfrm>
                <a:off x="6153170" y="2486167"/>
                <a:ext cx="1712348" cy="3594297"/>
              </a:xfrm>
              <a:prstGeom prst="roundRect">
                <a:avLst>
                  <a:gd name="adj" fmla="val 12255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6155737" y="4577782"/>
                <a:ext cx="1707214" cy="570423"/>
              </a:xfrm>
              <a:prstGeom prst="rect">
                <a:avLst/>
              </a:prstGeom>
              <a:solidFill>
                <a:srgbClr val="778495">
                  <a:alpha val="70196"/>
                </a:srgbClr>
              </a:solidFill>
              <a:ln w="381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4</a:t>
                </a:r>
                <a:endParaRPr lang="en-US" sz="1100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217182" y="3789323"/>
                <a:ext cx="1584325" cy="7644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教师账号、班级、学生信息管理井井有条，权限控制精细。</a:t>
                </a:r>
                <a:endParaRPr lang="en-US" sz="1100"/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217182" y="3250635"/>
                <a:ext cx="1584325" cy="5386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全局管理后台</a:t>
                </a:r>
                <a:endParaRPr lang="en-US" sz="1100"/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434702" y="2486166"/>
              <a:ext cx="2063878" cy="3594297"/>
              <a:chOff x="7979860" y="2486167"/>
              <a:chExt cx="1712348" cy="3594297"/>
            </a:xfrm>
          </p:grpSpPr>
          <p:sp>
            <p:nvSpPr>
              <p:cNvPr id="50" name="AutoShape 50"/>
              <p:cNvSpPr/>
              <p:nvPr/>
            </p:nvSpPr>
            <p:spPr>
              <a:xfrm>
                <a:off x="7979860" y="2486167"/>
                <a:ext cx="1712348" cy="3594297"/>
              </a:xfrm>
              <a:prstGeom prst="roundRect">
                <a:avLst>
                  <a:gd name="adj" fmla="val 12255"/>
                </a:avLst>
              </a:prstGeom>
              <a:solidFill>
                <a:srgbClr val="778495">
                  <a:alpha val="10196"/>
                </a:srgbClr>
              </a:solidFill>
              <a:ln>
                <a:prstDash val="solid"/>
                <a:headEnd type="none"/>
                <a:tailEnd type="none"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982427" y="4577782"/>
                <a:ext cx="1707214" cy="570423"/>
              </a:xfrm>
              <a:prstGeom prst="rect">
                <a:avLst/>
              </a:prstGeom>
              <a:solidFill>
                <a:srgbClr val="428AF3">
                  <a:alpha val="100000"/>
                </a:srgbClr>
              </a:solidFill>
              <a:ln w="38100">
                <a:solidFill>
                  <a:srgbClr val="FFFFFF">
                    <a:alpha val="100000"/>
                  </a:srgbClr>
                </a:solidFill>
                <a:prstDash val="solid"/>
                <a:headEnd type="none"/>
                <a:tailEnd type="none"/>
              </a:ln>
            </p:spPr>
            <p:txBody>
              <a:bodyPr vert="horz" wrap="none" lIns="91440" tIns="45720" rIns="91440" bIns="45720" rtlCol="0" anchor="ctr" anchorCtr="0"/>
              <a:lstStyle/>
              <a:p>
                <a:pPr algn="ctr">
                  <a:defRPr/>
                </a:pPr>
                <a:r>
                  <a:rPr lang="en-US" sz="20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5</a:t>
                </a:r>
                <a:endParaRPr lang="en-US" sz="1100"/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043872" y="3789323"/>
                <a:ext cx="1584325" cy="76446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spcBef>
                    <a:spcPts val="0"/>
                  </a:spcBef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以卡片式展示教师共享的优质资源，便于浏览与复用。</a:t>
                </a:r>
                <a:endParaRPr lang="en-US" sz="1100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8043872" y="3250635"/>
                <a:ext cx="1584325" cy="538688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b" anchorCtr="1"/>
              <a:lstStyle/>
              <a:p>
                <a:pPr algn="ctr">
                  <a:defRPr/>
                </a:pPr>
                <a:r>
                  <a:rPr lang="en-US" sz="17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公开资源广场</a:t>
                </a:r>
                <a:endParaRPr lang="en-US" sz="1100"/>
              </a:p>
            </p:txBody>
          </p:sp>
        </p:grpSp>
      </p:grpSp>
      <p:sp>
        <p:nvSpPr>
          <p:cNvPr id="54" name="TextBox 54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平台界面亮点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dcc5c697-2685-44a6-aae1-1bc27fb813ed"/>
          <p:cNvGrpSpPr/>
          <p:nvPr/>
        </p:nvGrpSpPr>
        <p:grpSpPr>
          <a:xfrm>
            <a:off x="943604" y="1255790"/>
            <a:ext cx="10304792" cy="4852910"/>
            <a:chOff x="937254" y="1281190"/>
            <a:chExt cx="10304792" cy="4852910"/>
          </a:xfrm>
        </p:grpSpPr>
        <p:sp>
          <p:nvSpPr>
            <p:cNvPr id="3" name="AutoShape 3"/>
            <p:cNvSpPr/>
            <p:nvPr/>
          </p:nvSpPr>
          <p:spPr>
            <a:xfrm>
              <a:off x="4225566" y="2977043"/>
              <a:ext cx="0" cy="2277128"/>
            </a:xfrm>
            <a:prstGeom prst="line">
              <a:avLst/>
            </a:prstGeom>
            <a:ln w="12700">
              <a:solidFill>
                <a:srgbClr val="000000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4" name="AutoShape 4"/>
            <p:cNvSpPr/>
            <p:nvPr/>
          </p:nvSpPr>
          <p:spPr>
            <a:xfrm>
              <a:off x="7966435" y="2977043"/>
              <a:ext cx="0" cy="2277128"/>
            </a:xfrm>
            <a:prstGeom prst="line">
              <a:avLst/>
            </a:prstGeom>
            <a:ln w="12700">
              <a:solidFill>
                <a:srgbClr val="000000">
                  <a:alpha val="10196"/>
                  <a:lumMod val="50000"/>
                  <a:lumOff val="50000"/>
                </a:srgbClr>
              </a:solidFill>
              <a:prstDash val="solid"/>
              <a:headEnd type="none"/>
              <a:tailEnd type="none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2322096" y="1281190"/>
              <a:ext cx="7547808" cy="650638"/>
            </a:xfrm>
            <a:prstGeom prst="rect">
              <a:avLst/>
            </a:prstGeom>
            <a:ln>
              <a:headEnd type="none"/>
              <a:tailEnd type="none"/>
            </a:ln>
          </p:spPr>
          <p:txBody>
            <a:bodyPr vert="horz" wrap="square" lIns="91440" tIns="45720" rIns="91440" bIns="45720" rtlCol="0" anchor="b" anchorCtr="1"/>
            <a:lstStyle/>
            <a:p>
              <a:pPr algn="ctr">
                <a:defRPr/>
              </a:pPr>
              <a:r>
                <a:rPr lang="en-US" sz="2400" b="1" i="0">
                  <a:ln/>
                  <a:solidFill>
                    <a:srgbClr val="000000">
                      <a:alpha val="100000"/>
                      <a:lumMod val="95000"/>
                      <a:lumOff val="5000"/>
                    </a:srgbClr>
                  </a:solidFill>
                  <a:latin typeface="微软雅黑"/>
                  <a:ea typeface="微软雅黑"/>
                  <a:cs typeface="微软雅黑"/>
                </a:rPr>
                <a:t>让技术为教育做减法</a:t>
              </a:r>
              <a:endParaRPr lang="en-US" sz="1100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937254" y="2977043"/>
              <a:ext cx="2799445" cy="3157057"/>
              <a:chOff x="937254" y="2977043"/>
              <a:chExt cx="2799445" cy="3157057"/>
            </a:xfrm>
          </p:grpSpPr>
          <p:sp>
            <p:nvSpPr>
              <p:cNvPr id="7" name="TextBox 7"/>
              <p:cNvSpPr txBox="1"/>
              <p:nvPr/>
            </p:nvSpPr>
            <p:spPr>
              <a:xfrm>
                <a:off x="937254" y="3853874"/>
                <a:ext cx="2799445" cy="14002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极简部署，AI驱动，实时反馈，体系完善，开放共享。</a:t>
                </a:r>
                <a:endParaRPr lang="en-US" sz="1100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88161" y="2977043"/>
                <a:ext cx="697628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01</a:t>
                </a:r>
                <a:endParaRPr lang="en-US" sz="1100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311214" y="5727700"/>
                <a:ext cx="2051524" cy="4064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3CBDA">
                      <a:alpha val="100000"/>
                      <a:lumMod val="60000"/>
                      <a:lumOff val="40000"/>
                    </a:srgbClr>
                  </a:gs>
                  <a:gs pos="60000">
                    <a:srgbClr val="33CBDA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5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核心价值总结</a:t>
                </a:r>
                <a:endParaRPr lang="en-US" sz="1100"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4689928" y="2977043"/>
              <a:ext cx="2799445" cy="3157057"/>
              <a:chOff x="4689928" y="2977043"/>
              <a:chExt cx="2799445" cy="3157057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4689928" y="3853874"/>
                <a:ext cx="2799445" cy="14002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访问官网 www.quickforge.cn 下载个人版，免费体验全部功能。或联系技术支持获取校园版及定制服务。</a:t>
                </a:r>
                <a:endParaRPr lang="en-US" sz="1100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740835" y="2977043"/>
                <a:ext cx="697628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02</a:t>
                </a:r>
                <a:endParaRPr lang="en-US" sz="1100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063888" y="5727700"/>
                <a:ext cx="2051524" cy="4064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3141E6">
                      <a:alpha val="100000"/>
                      <a:lumMod val="60000"/>
                      <a:lumOff val="40000"/>
                    </a:srgbClr>
                  </a:gs>
                  <a:gs pos="60000">
                    <a:srgbClr val="3141E6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500" b="1" i="0" dirty="0" err="1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立即开始体验</a:t>
                </a:r>
                <a:endParaRPr lang="en-US" sz="1100" dirty="0"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8442601" y="2977043"/>
              <a:ext cx="2799445" cy="3157057"/>
              <a:chOff x="8442601" y="2977043"/>
              <a:chExt cx="2799445" cy="3157057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8442601" y="3853874"/>
                <a:ext cx="2799445" cy="1400297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square" lIns="91440" tIns="45720" rIns="91440" bIns="45720" rtlCol="0" anchor="t" anchorCtr="1"/>
              <a:lstStyle/>
              <a:p>
                <a:pPr algn="ctr">
                  <a:lnSpc>
                    <a:spcPct val="120000"/>
                  </a:lnSpc>
                  <a:buFont typeface="Arial"/>
                  <a:buChar char="•"/>
                  <a:defRPr/>
                </a:pPr>
                <a:r>
                  <a:rPr lang="en-US" sz="1200" b="0" i="0">
                    <a:ln/>
                    <a:solidFill>
                      <a:srgbClr val="000000">
                        <a:alpha val="100000"/>
                        <a:lumMod val="95000"/>
                        <a:lumOff val="5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让AI真正走进每一间教室，成为每一位教师都能轻松驾驭的教学伙伴。</a:t>
                </a:r>
                <a:endParaRPr lang="en-US" sz="1100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493508" y="2977043"/>
                <a:ext cx="697628" cy="646331"/>
              </a:xfrm>
              <a:prstGeom prst="rect">
                <a:avLst/>
              </a:prstGeom>
              <a:ln>
                <a:headEnd type="none"/>
                <a:tailEnd type="none"/>
              </a:ln>
            </p:spPr>
            <p:txBody>
              <a:bodyPr vert="horz" wrap="none" lIns="91440" tIns="45720" rIns="91440" bIns="45720" rtlCol="0" anchor="t" anchorCtr="0"/>
              <a:lstStyle/>
              <a:p>
                <a:pPr algn="ctr">
                  <a:defRPr/>
                </a:pPr>
                <a:r>
                  <a:rPr lang="en-US" sz="3600" b="1" i="0">
                    <a:ln/>
                    <a:solidFill>
                      <a:srgbClr val="000000">
                        <a:alpha val="100000"/>
                      </a:srgbClr>
                    </a:solidFill>
                    <a:latin typeface="Arial"/>
                    <a:ea typeface="Arial"/>
                    <a:cs typeface="Arial"/>
                  </a:rPr>
                  <a:t>03</a:t>
                </a:r>
                <a:endParaRPr lang="en-US" sz="1100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816561" y="5727700"/>
                <a:ext cx="2051524" cy="406400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rgbClr val="9782FF">
                      <a:alpha val="100000"/>
                      <a:lumMod val="60000"/>
                      <a:lumOff val="40000"/>
                    </a:srgbClr>
                  </a:gs>
                  <a:gs pos="60000">
                    <a:srgbClr val="9782FF">
                      <a:alpha val="100000"/>
                    </a:srgbClr>
                  </a:gs>
                </a:gsLst>
                <a:lin ang="2700000"/>
              </a:gradFill>
              <a:ln>
                <a:prstDash val="solid"/>
                <a:headEnd type="none"/>
                <a:tailEnd type="none"/>
              </a:ln>
            </p:spPr>
            <p:txBody>
              <a:bodyPr vert="horz" wrap="square" lIns="91440" tIns="45720" rIns="91440" bIns="45720" rtlCol="0" anchor="ctr" anchorCtr="1"/>
              <a:lstStyle/>
              <a:p>
                <a:pPr algn="ctr">
                  <a:defRPr/>
                </a:pPr>
                <a:r>
                  <a:rPr lang="en-US" sz="1500" b="1" i="0">
                    <a:ln/>
                    <a:solidFill>
                      <a:srgbClr val="FFFFFF">
                        <a:alpha val="100000"/>
                      </a:srgbClr>
                    </a:solidFill>
                    <a:latin typeface="微软雅黑"/>
                    <a:ea typeface="微软雅黑"/>
                    <a:cs typeface="微软雅黑"/>
                  </a:rPr>
                  <a:t>我们的愿景</a:t>
                </a:r>
                <a:endParaRPr lang="en-US" sz="1100"/>
              </a:p>
            </p:txBody>
          </p:sp>
        </p:grpSp>
      </p:grpSp>
      <p:sp>
        <p:nvSpPr>
          <p:cNvPr id="18" name="TextBox 18"/>
          <p:cNvSpPr txBox="1"/>
          <p:nvPr/>
        </p:nvSpPr>
        <p:spPr>
          <a:xfrm>
            <a:off x="660400" y="128587"/>
            <a:ext cx="10858500" cy="900112"/>
          </a:xfrm>
          <a:prstGeom prst="rect">
            <a:avLst/>
          </a:prstGeom>
          <a:ln>
            <a:headEnd type="none"/>
            <a:tailEnd type="none"/>
          </a:ln>
        </p:spPr>
        <p:txBody>
          <a:bodyPr vert="horz" wrap="square" lIns="91440" tIns="45720" rIns="91440" bIns="45720" rtlCol="0" anchor="b" anchorCtr="0"/>
          <a:lstStyle/>
          <a:p>
            <a:pPr algn="l">
              <a:lnSpc>
                <a:spcPct val="100000"/>
              </a:lnSpc>
              <a:spcBef>
                <a:spcPts val="0"/>
              </a:spcBef>
              <a:defRPr/>
            </a:pPr>
            <a:r>
              <a:rPr lang="en-US" sz="3200" b="1" i="0">
                <a:ln/>
                <a:solidFill>
                  <a:srgbClr val="000000">
                    <a:alpha val="100000"/>
                  </a:srgbClr>
                </a:solidFill>
                <a:latin typeface="微软雅黑"/>
                <a:ea typeface="微软雅黑"/>
                <a:cs typeface="微软雅黑"/>
              </a:rPr>
              <a:t>总结与开始体验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78837593-941e-414e-a083-726bd1b65a4b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424</Words>
  <Application>Microsoft Office PowerPoint</Application>
  <PresentationFormat>自定义</PresentationFormat>
  <Paragraphs>130</Paragraphs>
  <Slides>11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2" baseType="lpstr">
      <vt:lpstr>78837593-941e-414e-a083-726bd1b65a4b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Windows 用户</cp:lastModifiedBy>
  <cp:revision>3</cp:revision>
  <dcterms:created xsi:type="dcterms:W3CDTF">2006-08-16T00:00:00Z</dcterms:created>
  <dcterms:modified xsi:type="dcterms:W3CDTF">2026-04-25T16:34:39Z</dcterms:modified>
</cp:coreProperties>
</file>