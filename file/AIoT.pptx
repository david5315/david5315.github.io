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3" r:id="rId14"/>
    <p:sldId id="278" r:id="rId15"/>
    <p:sldId id="281" r:id="rId16"/>
    <p:sldId id="285" r:id="rId17"/>
    <p:sldId id="28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94622" autoAdjust="0"/>
  </p:normalViewPr>
  <p:slideViewPr>
    <p:cSldViewPr>
      <p:cViewPr varScale="1">
        <p:scale>
          <a:sx n="106" d="100"/>
          <a:sy n="106" d="100"/>
        </p:scale>
        <p:origin x="-71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>
                <a:alphaModFix/>
                <a:alphaModFix/>
              </a:blip>
              <a:stretch>
                <a:fillRect l="-360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449943" y="1596570"/>
              <a:ext cx="7410456" cy="4296229"/>
            </a:xfrm>
            <a:prstGeom prst="snip2DiagRect">
              <a:avLst/>
            </a:prstGeom>
            <a:gradFill>
              <a:gsLst>
                <a:gs pos="0">
                  <a:srgbClr val="0066E3">
                    <a:alpha val="100000"/>
                  </a:srgbClr>
                </a:gs>
                <a:gs pos="100000">
                  <a:srgbClr val="0066E3">
                    <a:alpha val="50196"/>
                  </a:srgbClr>
                </a:gs>
              </a:gsLst>
              <a:lin ang="150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6669891" y="5439440"/>
              <a:ext cx="2032673" cy="709173"/>
            </a:xfrm>
            <a:prstGeom prst="snip2DiagRect">
              <a:avLst/>
            </a:prstGeom>
            <a:gradFill>
              <a:gsLst>
                <a:gs pos="0">
                  <a:srgbClr val="2BE1FF">
                    <a:alpha val="100000"/>
                  </a:srgbClr>
                </a:gs>
                <a:gs pos="82999">
                  <a:srgbClr val="2BE1FF">
                    <a:alpha val="14117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1">
              <a:off x="0" y="1345260"/>
              <a:ext cx="2032673" cy="502619"/>
            </a:xfrm>
            <a:prstGeom prst="snip2DiagRect">
              <a:avLst/>
            </a:prstGeom>
            <a:gradFill>
              <a:gsLst>
                <a:gs pos="0">
                  <a:srgbClr val="2BE1FF">
                    <a:alpha val="100000"/>
                  </a:srgbClr>
                </a:gs>
                <a:gs pos="82999">
                  <a:srgbClr val="2BE1FF">
                    <a:alpha val="14117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925" y="891803"/>
            <a:ext cx="10855325" cy="238497"/>
            <a:chOff x="669925" y="891803"/>
            <a:chExt cx="10855325" cy="238497"/>
          </a:xfrm>
        </p:grpSpPr>
        <p:sp>
          <p:nvSpPr>
            <p:cNvPr id="3" name="AutoShape 3"/>
            <p:cNvSpPr/>
            <p:nvPr/>
          </p:nvSpPr>
          <p:spPr>
            <a:xfrm>
              <a:off x="669925" y="1028700"/>
              <a:ext cx="10855325" cy="101600"/>
            </a:xfrm>
            <a:prstGeom prst="parallelogram">
              <a:avLst>
                <a:gd name="adj" fmla="val 81250"/>
              </a:avLst>
            </a:prstGeom>
            <a:gradFill>
              <a:gsLst>
                <a:gs pos="0">
                  <a:srgbClr val="0066E3">
                    <a:alpha val="40000"/>
                  </a:srgbClr>
                </a:gs>
                <a:gs pos="100000">
                  <a:srgbClr val="0066E3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10697423" y="891803"/>
              <a:ext cx="786169" cy="180056"/>
            </a:xfrm>
            <a:custGeom>
              <a:avLst/>
              <a:gdLst/>
              <a:ahLst/>
              <a:cxnLst/>
              <a:rect l="l" t="t" r="r" b="b"/>
              <a:pathLst>
                <a:path w="786169" h="180056">
                  <a:moveTo>
                    <a:pt x="666689" y="0"/>
                  </a:moveTo>
                  <a:lnTo>
                    <a:pt x="786169" y="0"/>
                  </a:lnTo>
                  <a:lnTo>
                    <a:pt x="647270" y="180056"/>
                  </a:lnTo>
                  <a:lnTo>
                    <a:pt x="527790" y="180056"/>
                  </a:lnTo>
                  <a:close/>
                  <a:moveTo>
                    <a:pt x="402794" y="0"/>
                  </a:moveTo>
                  <a:lnTo>
                    <a:pt x="522274" y="0"/>
                  </a:lnTo>
                  <a:lnTo>
                    <a:pt x="383375" y="180056"/>
                  </a:lnTo>
                  <a:lnTo>
                    <a:pt x="263895" y="180056"/>
                  </a:lnTo>
                  <a:close/>
                  <a:moveTo>
                    <a:pt x="138899" y="0"/>
                  </a:moveTo>
                  <a:lnTo>
                    <a:pt x="258379" y="0"/>
                  </a:lnTo>
                  <a:lnTo>
                    <a:pt x="119480" y="180056"/>
                  </a:lnTo>
                  <a:lnTo>
                    <a:pt x="0" y="180056"/>
                  </a:lnTo>
                  <a:close/>
                </a:path>
              </a:pathLst>
            </a:custGeom>
            <a:gradFill>
              <a:gsLst>
                <a:gs pos="0">
                  <a:srgbClr val="0066E3">
                    <a:alpha val="40000"/>
                  </a:srgbClr>
                </a:gs>
                <a:gs pos="100000">
                  <a:srgbClr val="0066E3">
                    <a:alpha val="50196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AutoShap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>
                <a:alphaModFix/>
                <a:alphaModFix/>
              </a:blip>
              <a:stretch>
                <a:fillRect l="-360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066E3">
                <a:alpha val="90196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>
                <a:alphaModFix/>
                <a:alphaModFix/>
              </a:blip>
              <a:stretch>
                <a:fillRect l="-360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449943" y="1596570"/>
              <a:ext cx="7410456" cy="4296229"/>
            </a:xfrm>
            <a:prstGeom prst="snip2DiagRect">
              <a:avLst/>
            </a:prstGeom>
            <a:gradFill>
              <a:gsLst>
                <a:gs pos="0">
                  <a:srgbClr val="0066E3">
                    <a:alpha val="100000"/>
                  </a:srgbClr>
                </a:gs>
                <a:gs pos="100000">
                  <a:srgbClr val="0066E3">
                    <a:alpha val="50196"/>
                  </a:srgbClr>
                </a:gs>
              </a:gsLst>
              <a:lin ang="150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6669891" y="5439440"/>
              <a:ext cx="2032673" cy="709173"/>
            </a:xfrm>
            <a:prstGeom prst="snip2DiagRect">
              <a:avLst/>
            </a:prstGeom>
            <a:gradFill>
              <a:gsLst>
                <a:gs pos="0">
                  <a:srgbClr val="2BE1FF">
                    <a:alpha val="100000"/>
                  </a:srgbClr>
                </a:gs>
                <a:gs pos="82999">
                  <a:srgbClr val="2BE1FF">
                    <a:alpha val="14117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1">
              <a:off x="0" y="1345260"/>
              <a:ext cx="2032673" cy="502619"/>
            </a:xfrm>
            <a:prstGeom prst="snip2DiagRect">
              <a:avLst/>
            </a:prstGeom>
            <a:gradFill>
              <a:gsLst>
                <a:gs pos="0">
                  <a:srgbClr val="2BE1FF">
                    <a:alpha val="100000"/>
                  </a:srgbClr>
                </a:gs>
                <a:gs pos="82999">
                  <a:srgbClr val="2BE1FF">
                    <a:alpha val="14117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925" y="891803"/>
            <a:ext cx="10855325" cy="238497"/>
            <a:chOff x="669925" y="891803"/>
            <a:chExt cx="10855325" cy="238497"/>
          </a:xfrm>
        </p:grpSpPr>
        <p:sp>
          <p:nvSpPr>
            <p:cNvPr id="3" name="AutoShape 3"/>
            <p:cNvSpPr/>
            <p:nvPr/>
          </p:nvSpPr>
          <p:spPr>
            <a:xfrm>
              <a:off x="669925" y="1028700"/>
              <a:ext cx="10855325" cy="101600"/>
            </a:xfrm>
            <a:prstGeom prst="parallelogram">
              <a:avLst>
                <a:gd name="adj" fmla="val 81250"/>
              </a:avLst>
            </a:prstGeom>
            <a:gradFill>
              <a:gsLst>
                <a:gs pos="0">
                  <a:srgbClr val="0066E3">
                    <a:alpha val="40000"/>
                  </a:srgbClr>
                </a:gs>
                <a:gs pos="100000">
                  <a:srgbClr val="0066E3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10697423" y="891803"/>
              <a:ext cx="786169" cy="180056"/>
            </a:xfrm>
            <a:custGeom>
              <a:avLst/>
              <a:gdLst/>
              <a:ahLst/>
              <a:cxnLst/>
              <a:rect l="l" t="t" r="r" b="b"/>
              <a:pathLst>
                <a:path w="786169" h="180056">
                  <a:moveTo>
                    <a:pt x="666689" y="0"/>
                  </a:moveTo>
                  <a:lnTo>
                    <a:pt x="786169" y="0"/>
                  </a:lnTo>
                  <a:lnTo>
                    <a:pt x="647270" y="180056"/>
                  </a:lnTo>
                  <a:lnTo>
                    <a:pt x="527790" y="180056"/>
                  </a:lnTo>
                  <a:close/>
                  <a:moveTo>
                    <a:pt x="402794" y="0"/>
                  </a:moveTo>
                  <a:lnTo>
                    <a:pt x="522274" y="0"/>
                  </a:lnTo>
                  <a:lnTo>
                    <a:pt x="383375" y="180056"/>
                  </a:lnTo>
                  <a:lnTo>
                    <a:pt x="263895" y="180056"/>
                  </a:lnTo>
                  <a:close/>
                  <a:moveTo>
                    <a:pt x="138899" y="0"/>
                  </a:moveTo>
                  <a:lnTo>
                    <a:pt x="258379" y="0"/>
                  </a:lnTo>
                  <a:lnTo>
                    <a:pt x="119480" y="180056"/>
                  </a:lnTo>
                  <a:lnTo>
                    <a:pt x="0" y="180056"/>
                  </a:lnTo>
                  <a:close/>
                </a:path>
              </a:pathLst>
            </a:custGeom>
            <a:gradFill>
              <a:gsLst>
                <a:gs pos="0">
                  <a:srgbClr val="0066E3">
                    <a:alpha val="40000"/>
                  </a:srgbClr>
                </a:gs>
                <a:gs pos="100000">
                  <a:srgbClr val="0066E3">
                    <a:alpha val="50196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0066E3">
                <a:alpha val="100000"/>
                <a:lumMod val="40000"/>
                <a:lumOff val="60000"/>
              </a:srgbClr>
            </a:gs>
            <a:gs pos="72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925" y="891803"/>
            <a:ext cx="10855325" cy="238497"/>
            <a:chOff x="669925" y="891803"/>
            <a:chExt cx="10855325" cy="238497"/>
          </a:xfrm>
        </p:grpSpPr>
        <p:sp>
          <p:nvSpPr>
            <p:cNvPr id="3" name="AutoShape 3"/>
            <p:cNvSpPr/>
            <p:nvPr/>
          </p:nvSpPr>
          <p:spPr>
            <a:xfrm>
              <a:off x="669925" y="1028700"/>
              <a:ext cx="10855325" cy="101600"/>
            </a:xfrm>
            <a:prstGeom prst="parallelogram">
              <a:avLst>
                <a:gd name="adj" fmla="val 81250"/>
              </a:avLst>
            </a:prstGeom>
            <a:gradFill>
              <a:gsLst>
                <a:gs pos="0">
                  <a:srgbClr val="0066E3">
                    <a:alpha val="40000"/>
                  </a:srgbClr>
                </a:gs>
                <a:gs pos="100000">
                  <a:srgbClr val="0066E3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10697423" y="891803"/>
              <a:ext cx="786169" cy="180056"/>
            </a:xfrm>
            <a:custGeom>
              <a:avLst/>
              <a:gdLst/>
              <a:ahLst/>
              <a:cxnLst/>
              <a:rect l="l" t="t" r="r" b="b"/>
              <a:pathLst>
                <a:path w="786169" h="180056">
                  <a:moveTo>
                    <a:pt x="666689" y="0"/>
                  </a:moveTo>
                  <a:lnTo>
                    <a:pt x="786169" y="0"/>
                  </a:lnTo>
                  <a:lnTo>
                    <a:pt x="647270" y="180056"/>
                  </a:lnTo>
                  <a:lnTo>
                    <a:pt x="527790" y="180056"/>
                  </a:lnTo>
                  <a:close/>
                  <a:moveTo>
                    <a:pt x="402794" y="0"/>
                  </a:moveTo>
                  <a:lnTo>
                    <a:pt x="522274" y="0"/>
                  </a:lnTo>
                  <a:lnTo>
                    <a:pt x="383375" y="180056"/>
                  </a:lnTo>
                  <a:lnTo>
                    <a:pt x="263895" y="180056"/>
                  </a:lnTo>
                  <a:close/>
                  <a:moveTo>
                    <a:pt x="138899" y="0"/>
                  </a:moveTo>
                  <a:lnTo>
                    <a:pt x="258379" y="0"/>
                  </a:lnTo>
                  <a:lnTo>
                    <a:pt x="119480" y="180056"/>
                  </a:lnTo>
                  <a:lnTo>
                    <a:pt x="0" y="180056"/>
                  </a:lnTo>
                  <a:close/>
                </a:path>
              </a:pathLst>
            </a:custGeom>
            <a:gradFill>
              <a:gsLst>
                <a:gs pos="0">
                  <a:srgbClr val="0066E3">
                    <a:alpha val="40000"/>
                  </a:srgbClr>
                </a:gs>
                <a:gs pos="100000">
                  <a:srgbClr val="0066E3">
                    <a:alpha val="50196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gradFill>
          <a:gsLst>
            <a:gs pos="0">
              <a:srgbClr val="0066E3">
                <a:alpha val="100000"/>
                <a:lumMod val="75000"/>
              </a:srgbClr>
            </a:gs>
            <a:gs pos="100000">
              <a:srgbClr val="0066E3">
                <a:alpha val="90196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925" y="891803"/>
            <a:ext cx="10855325" cy="238497"/>
            <a:chOff x="669925" y="891803"/>
            <a:chExt cx="10855325" cy="238497"/>
          </a:xfrm>
        </p:grpSpPr>
        <p:sp>
          <p:nvSpPr>
            <p:cNvPr id="3" name="AutoShape 3"/>
            <p:cNvSpPr/>
            <p:nvPr/>
          </p:nvSpPr>
          <p:spPr>
            <a:xfrm>
              <a:off x="669925" y="1028700"/>
              <a:ext cx="10855325" cy="101600"/>
            </a:xfrm>
            <a:prstGeom prst="parallelogram">
              <a:avLst>
                <a:gd name="adj" fmla="val 81250"/>
              </a:avLst>
            </a:prstGeom>
            <a:gradFill>
              <a:gsLst>
                <a:gs pos="0">
                  <a:srgbClr val="0066E3">
                    <a:alpha val="40000"/>
                  </a:srgbClr>
                </a:gs>
                <a:gs pos="100000">
                  <a:srgbClr val="0066E3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10697423" y="891803"/>
              <a:ext cx="786169" cy="180056"/>
            </a:xfrm>
            <a:custGeom>
              <a:avLst/>
              <a:gdLst/>
              <a:ahLst/>
              <a:cxnLst/>
              <a:rect l="l" t="t" r="r" b="b"/>
              <a:pathLst>
                <a:path w="786169" h="180056">
                  <a:moveTo>
                    <a:pt x="666689" y="0"/>
                  </a:moveTo>
                  <a:lnTo>
                    <a:pt x="786169" y="0"/>
                  </a:lnTo>
                  <a:lnTo>
                    <a:pt x="647270" y="180056"/>
                  </a:lnTo>
                  <a:lnTo>
                    <a:pt x="527790" y="180056"/>
                  </a:lnTo>
                  <a:close/>
                  <a:moveTo>
                    <a:pt x="402794" y="0"/>
                  </a:moveTo>
                  <a:lnTo>
                    <a:pt x="522274" y="0"/>
                  </a:lnTo>
                  <a:lnTo>
                    <a:pt x="383375" y="180056"/>
                  </a:lnTo>
                  <a:lnTo>
                    <a:pt x="263895" y="180056"/>
                  </a:lnTo>
                  <a:close/>
                  <a:moveTo>
                    <a:pt x="138899" y="0"/>
                  </a:moveTo>
                  <a:lnTo>
                    <a:pt x="258379" y="0"/>
                  </a:lnTo>
                  <a:lnTo>
                    <a:pt x="119480" y="180056"/>
                  </a:lnTo>
                  <a:lnTo>
                    <a:pt x="0" y="180056"/>
                  </a:lnTo>
                  <a:close/>
                </a:path>
              </a:pathLst>
            </a:custGeom>
            <a:gradFill>
              <a:gsLst>
                <a:gs pos="0">
                  <a:srgbClr val="0066E3">
                    <a:alpha val="40000"/>
                  </a:srgbClr>
                </a:gs>
                <a:gs pos="100000">
                  <a:srgbClr val="0066E3">
                    <a:alpha val="50196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AutoShap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>
                <a:alphaModFix/>
                <a:alphaModFix/>
              </a:blip>
              <a:stretch>
                <a:fillRect l="-360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066E3">
                <a:alpha val="80000"/>
                <a:lumMod val="75000"/>
              </a:srgbClr>
            </a:solidFill>
            <a:ln>
              <a:prstDash val="solid"/>
              <a:headEnd type="none"/>
              <a:tailEnd type="none"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sp>
          <p:nvSpPr>
            <p:cNvPr id="9" name="AutoShape 9"/>
            <p:cNvSpPr/>
            <p:nvPr/>
          </p:nvSpPr>
          <p:spPr>
            <a:xfrm>
              <a:off x="3621019" y="1500188"/>
              <a:ext cx="0" cy="4633913"/>
            </a:xfrm>
            <a:prstGeom prst="line">
              <a:avLst/>
            </a:prstGeom>
            <a:ln w="3175">
              <a:solidFill>
                <a:srgbClr val="FFFFFF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2626456" y="5219207"/>
              <a:ext cx="870506" cy="915667"/>
            </a:xfrm>
            <a:custGeom>
              <a:avLst/>
              <a:gdLst/>
              <a:ahLst/>
              <a:cxnLst/>
              <a:rect l="l" t="t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rgbClr val="FFFFFF">
                <a:alpha val="14901"/>
              </a:srgbClr>
            </a:solidFill>
            <a:ln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>
                <a:alphaModFix/>
                <a:alphaModFix/>
              </a:blip>
              <a:stretch>
                <a:fillRect l="-360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449943" y="1596570"/>
              <a:ext cx="7410456" cy="4296229"/>
            </a:xfrm>
            <a:prstGeom prst="snip2DiagRect">
              <a:avLst/>
            </a:prstGeom>
            <a:gradFill>
              <a:gsLst>
                <a:gs pos="0">
                  <a:srgbClr val="0066E3">
                    <a:alpha val="100000"/>
                  </a:srgbClr>
                </a:gs>
                <a:gs pos="100000">
                  <a:srgbClr val="0066E3">
                    <a:alpha val="50196"/>
                  </a:srgbClr>
                </a:gs>
              </a:gsLst>
              <a:lin ang="150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6669891" y="5439440"/>
              <a:ext cx="2032673" cy="709173"/>
            </a:xfrm>
            <a:prstGeom prst="snip2DiagRect">
              <a:avLst/>
            </a:prstGeom>
            <a:gradFill>
              <a:gsLst>
                <a:gs pos="0">
                  <a:srgbClr val="2BE1FF">
                    <a:alpha val="100000"/>
                  </a:srgbClr>
                </a:gs>
                <a:gs pos="82999">
                  <a:srgbClr val="2BE1FF">
                    <a:alpha val="14117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1">
              <a:off x="0" y="1345260"/>
              <a:ext cx="2032673" cy="502619"/>
            </a:xfrm>
            <a:prstGeom prst="snip2DiagRect">
              <a:avLst/>
            </a:prstGeom>
            <a:gradFill>
              <a:gsLst>
                <a:gs pos="0">
                  <a:srgbClr val="2BE1FF">
                    <a:alpha val="100000"/>
                  </a:srgbClr>
                </a:gs>
                <a:gs pos="82999">
                  <a:srgbClr val="2BE1FF">
                    <a:alpha val="14117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/ppt/slideMasters/slideMaster1.xm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2050187"/>
            <a:ext cx="7507301" cy="2160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 dirty="0" err="1">
                <a:ln w="19050"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AIoT智慧校园节能系统</a:t>
            </a:r>
            <a:endParaRPr lang="en-US" sz="1100" dirty="0"/>
          </a:p>
        </p:txBody>
      </p:sp>
      <p:sp>
        <p:nvSpPr>
          <p:cNvPr id="3" name="TextBox 3"/>
          <p:cNvSpPr txBox="1"/>
          <p:nvPr/>
        </p:nvSpPr>
        <p:spPr>
          <a:xfrm>
            <a:off x="660401" y="4234312"/>
            <a:ext cx="7200000" cy="519703"/>
          </a:xfrm>
          <a:prstGeom prst="roundRect">
            <a:avLst>
              <a:gd name="adj" fmla="val 0"/>
            </a:avLst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项目式教学课程设计</a:t>
            </a:r>
            <a:endParaRPr lang="en-US" sz="1100" dirty="0"/>
          </a:p>
        </p:txBody>
      </p:sp>
      <p:sp>
        <p:nvSpPr>
          <p:cNvPr id="4" name="TextBox 4"/>
          <p:cNvSpPr txBox="1"/>
          <p:nvPr/>
        </p:nvSpPr>
        <p:spPr>
          <a:xfrm>
            <a:off x="3952859" y="5114190"/>
            <a:ext cx="3907539" cy="2769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sz="1100" b="1" dirty="0" smtClean="0">
                <a:solidFill>
                  <a:schemeClr val="bg1"/>
                </a:solidFill>
              </a:rPr>
              <a:t>江苏省南菁高级中学</a:t>
            </a:r>
            <a:endParaRPr lang="en-US" sz="11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1" y="1182453"/>
            <a:ext cx="7200000" cy="2160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ln w="19050"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课程概述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1" y="3526511"/>
            <a:ext cx="7200000" cy="1085665"/>
          </a:xfrm>
          <a:prstGeom prst="roundRect">
            <a:avLst>
              <a:gd name="adj" fmla="val 0"/>
            </a:avLst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 dirty="0" smtClean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本课程以校园节能问题为驱动</a:t>
            </a:r>
            <a:r>
              <a:rPr lang="en-US" sz="2000" b="0" i="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，融合AI与物联网技术，引导学生通过项目式学习（PBL）完成智慧节能系统的设计与实现，旨在培养学生的跨学科整合能力、工程实践与创新思维。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e4c110d-b764-454b-9018-a5263d72a717"/>
          <p:cNvGrpSpPr/>
          <p:nvPr/>
        </p:nvGrpSpPr>
        <p:grpSpPr>
          <a:xfrm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 dirty="0" err="1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真实问题驱动的学习</a:t>
              </a:r>
              <a:endParaRPr lang="en-US" sz="1100" dirty="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4378325" y="1695450"/>
              <a:ext cx="3422650" cy="146050"/>
            </a:xfrm>
            <a:prstGeom prst="roundRect">
              <a:avLst>
                <a:gd name="adj" fmla="val 50000"/>
              </a:avLst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660400" y="2082800"/>
              <a:ext cx="10858500" cy="1711960"/>
            </a:xfrm>
            <a:prstGeom prst="roundRect">
              <a:avLst>
                <a:gd name="adj" fmla="val 50000"/>
              </a:avLst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660400" y="2428261"/>
              <a:ext cx="3338672" cy="3705839"/>
              <a:chOff x="185578" y="2428261"/>
              <a:chExt cx="3338672" cy="3705839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85578" y="4090070"/>
                <a:ext cx="333867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校园能耗痛点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85578" y="4864941"/>
                <a:ext cx="333867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校园中“无人灯长明”是普遍存在的能源浪费现象，每月造成的电力浪费可达数百至上千度电，不仅增加学校运营成本，也与节能减排的社会责任相悖。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91959" y="2428261"/>
                <a:ext cx="1925910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420314" y="2428261"/>
              <a:ext cx="3338672" cy="3705839"/>
              <a:chOff x="185578" y="2428261"/>
              <a:chExt cx="3338672" cy="3705839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85578" y="4090070"/>
                <a:ext cx="333867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能耗量化分析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85578" y="4864941"/>
                <a:ext cx="333867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以一盏40W日光灯为例，若每天多亮2小时，一年约浪费292度电，约合电费146元。积少成多，整个校园的节能潜力巨大。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91959" y="2428261"/>
                <a:ext cx="1925910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180228" y="2428261"/>
              <a:ext cx="3338672" cy="3705839"/>
              <a:chOff x="185578" y="2428261"/>
              <a:chExt cx="3338672" cy="3705839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185578" y="4090070"/>
                <a:ext cx="333867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项目解决方案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85578" y="4864941"/>
                <a:ext cx="333867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运用AI目标检测技术和物联网控制技术，设计并实现一套智慧校园节能系统，当教室无人时，自动识别并通过物联网开关关闭灯具。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91959" y="2428261"/>
                <a:ext cx="1925910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399" y="0"/>
            <a:ext cx="10858500" cy="1028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项目背景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d3fb86fd-21f8-4575-ab50-a2b98b3b0e6c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90011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跨学科融合与工程实践导向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0401" y="2748550"/>
              <a:ext cx="2520122" cy="3385550"/>
              <a:chOff x="660401" y="2748550"/>
              <a:chExt cx="2520122" cy="3385550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660401" y="3860800"/>
                <a:ext cx="2520121" cy="6661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真实问题驱动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660401" y="4526996"/>
                <a:ext cx="2520122" cy="16071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以校园实际存在的能源浪费问题为切入点，让学生为真实需求设计解决方案，契合PBL核心理念。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308631" y="2748550"/>
                <a:ext cx="1060307" cy="1060307"/>
              </a:xfrm>
              <a:prstGeom prst="ellipse">
                <a:avLst/>
              </a:prstGeom>
              <a:solidFill>
                <a:srgbClr val="0066E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3429319" y="2748550"/>
              <a:ext cx="2520122" cy="3385550"/>
              <a:chOff x="3429319" y="2748550"/>
              <a:chExt cx="2520122" cy="3385550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3429319" y="3860800"/>
                <a:ext cx="2520121" cy="6661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跨学科融合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429319" y="4526996"/>
                <a:ext cx="2520122" cy="16071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信息科技（Python编程、AI模型）、物理/物联网（传感器与执行器）与数学（数据统计与能耗分析）等多学科知识交叉应用。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077549" y="2748550"/>
                <a:ext cx="1060307" cy="1060307"/>
              </a:xfrm>
              <a:prstGeom prst="ellipse">
                <a:avLst/>
              </a:prstGeom>
              <a:solidFill>
                <a:srgbClr val="0066E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6229856" y="2748550"/>
              <a:ext cx="2520123" cy="3385550"/>
              <a:chOff x="6229856" y="2748550"/>
              <a:chExt cx="2520123" cy="3385550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6229856" y="3860800"/>
                <a:ext cx="2520121" cy="6661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技术前沿性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229857" y="4526996"/>
                <a:ext cx="2520122" cy="16071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涵盖AI计算机视觉（YOLO</a:t>
                </a:r>
                <a:r>
                  <a:rPr lang="en-US" sz="1200" b="0" i="0" dirty="0" err="1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目标检测</a:t>
                </a:r>
                <a:r>
                  <a:rPr lang="zh-CN" alt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，视觉语言大模型）</a:t>
                </a:r>
                <a:r>
                  <a:rPr 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、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物联网设备控制（涂鸦智能开关）与云服务集成（</a:t>
                </a:r>
                <a:r>
                  <a:rPr lang="en-US" sz="1200" b="0" i="0" dirty="0" err="1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短信</a:t>
                </a:r>
                <a:r>
                  <a:rPr lang="zh-CN" alt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、微信</a:t>
                </a:r>
                <a:r>
                  <a:rPr 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）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等前沿技术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878087" y="2748550"/>
                <a:ext cx="1060307" cy="1060307"/>
              </a:xfrm>
              <a:prstGeom prst="ellipse">
                <a:avLst/>
              </a:prstGeom>
              <a:solidFill>
                <a:srgbClr val="0066E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998778" y="2748549"/>
              <a:ext cx="2520122" cy="3385550"/>
              <a:chOff x="8998778" y="2748549"/>
              <a:chExt cx="2520122" cy="3385550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8998778" y="3860799"/>
                <a:ext cx="2520121" cy="6661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工程实践导向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998778" y="4526995"/>
                <a:ext cx="2520122" cy="16071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遵循“感知—决策—执行—反馈”的物联网闭环逻辑，培养学生系统集成能力与工程思维，产出可运行的真实项目成果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647009" y="2748549"/>
                <a:ext cx="1014056" cy="1060307"/>
              </a:xfrm>
              <a:prstGeom prst="ellipse">
                <a:avLst/>
              </a:prstGeom>
              <a:solidFill>
                <a:srgbClr val="0066E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399" y="0"/>
            <a:ext cx="10858500" cy="1028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项目特色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d160acc2-4dac-4232-9c14-968ebf177f79"/>
          <p:cNvGrpSpPr/>
          <p:nvPr/>
        </p:nvGrpSpPr>
        <p:grpSpPr>
          <a:xfrm>
            <a:off x="660400" y="1142984"/>
            <a:ext cx="10864812" cy="4991116"/>
            <a:chOff x="660400" y="1142984"/>
            <a:chExt cx="10864812" cy="4991116"/>
          </a:xfrm>
        </p:grpSpPr>
        <p:sp>
          <p:nvSpPr>
            <p:cNvPr id="3" name="AutoShape 3"/>
            <p:cNvSpPr/>
            <p:nvPr/>
          </p:nvSpPr>
          <p:spPr>
            <a:xfrm>
              <a:off x="660400" y="3044858"/>
              <a:ext cx="10858500" cy="0"/>
            </a:xfrm>
            <a:prstGeom prst="line">
              <a:avLst/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12" y="1142984"/>
              <a:ext cx="10858500" cy="1285884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i="0" strike="noStrike" dirty="0" smtClean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适用</a:t>
              </a:r>
              <a:r>
                <a:rPr lang="zh-CN" altLang="en-US" sz="2400" b="1" dirty="0" smtClean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场景：家庭、企业、商业、校园等需要</a:t>
              </a:r>
              <a:r>
                <a:rPr lang="en-US" altLang="zh-CN" sz="2400" b="1" dirty="0" smtClean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AI</a:t>
              </a:r>
              <a:r>
                <a:rPr lang="zh-CN" altLang="en-US" sz="2400" b="1" dirty="0" smtClean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赋能的场景。</a:t>
              </a:r>
              <a:r>
                <a:rPr lang="en-US" altLang="zh-CN" sz="2400" b="1" i="0" strike="noStrike" dirty="0" smtClean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/>
              </a:r>
              <a:br>
                <a:rPr lang="en-US" altLang="zh-CN" sz="2400" b="1" i="0" strike="noStrike" dirty="0" smtClean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</a:br>
              <a:r>
                <a:rPr lang="en-US" altLang="zh-CN" sz="2400" b="1" dirty="0" smtClean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AI</a:t>
              </a:r>
              <a:r>
                <a:rPr lang="zh-CN" altLang="en-US" sz="2400" b="1" i="0" strike="noStrike" dirty="0" smtClean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价值：视觉</a:t>
              </a:r>
              <a:r>
                <a:rPr lang="zh-CN" altLang="en-US" sz="2400" b="1" dirty="0" smtClean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分析软件、</a:t>
              </a:r>
              <a:r>
                <a:rPr lang="zh-CN" altLang="en-US" sz="2400" b="1" i="0" strike="noStrike" dirty="0" smtClean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数据挖掘、管理控制</a:t>
              </a:r>
              <a:r>
                <a:rPr lang="en-US" altLang="zh-CN" sz="2400" b="1" i="0" strike="noStrike" dirty="0" smtClean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/>
              </a:r>
              <a:br>
                <a:rPr lang="en-US" altLang="zh-CN" sz="2400" b="1" i="0" strike="noStrike" dirty="0" smtClean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</a:br>
              <a:r>
                <a:rPr lang="zh-CN" altLang="en-US" sz="2400" b="1" i="0" strike="noStrike" dirty="0" smtClean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基础硬件：监控网络和控制执行设备</a:t>
              </a:r>
              <a:endParaRPr lang="en-US" sz="1100" dirty="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400" y="2312472"/>
              <a:ext cx="4631742" cy="3821628"/>
              <a:chOff x="-145018" y="2312472"/>
              <a:chExt cx="4631742" cy="3821628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2170853" y="3044858"/>
                <a:ext cx="0" cy="1022808"/>
              </a:xfrm>
              <a:prstGeom prst="line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-145018" y="4090070"/>
                <a:ext cx="463174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课程面向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-145018" y="4864941"/>
                <a:ext cx="463174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本课程主要面向高中一年级至二年级的学生，该阶段学生已具备基础的编程和物理知识，能够胜任项目开发任务。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63841" y="2312472"/>
                <a:ext cx="1014024" cy="6862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 dirty="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6887158" y="2312472"/>
              <a:ext cx="4631742" cy="3821628"/>
              <a:chOff x="-145018" y="2312472"/>
              <a:chExt cx="4631742" cy="3821628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2170853" y="3044858"/>
                <a:ext cx="0" cy="1022808"/>
              </a:xfrm>
              <a:prstGeom prst="line">
                <a:avLst/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-145018" y="4090070"/>
                <a:ext cx="463174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学时安排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-145018" y="4864941"/>
                <a:ext cx="463174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课程设计总学时为</a:t>
                </a:r>
                <a:r>
                  <a:rPr 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10-16课时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，</a:t>
                </a:r>
                <a:r>
                  <a:rPr 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建议在</a:t>
                </a:r>
                <a:r>
                  <a:rPr lang="zh-CN" alt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校本课程中安排小班</a:t>
                </a:r>
                <a:r>
                  <a:rPr lang="en-US" sz="1200" b="0" i="0" dirty="0" err="1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授课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，以保证学习的连贯性和项目开发的完整性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663841" y="2312472"/>
                <a:ext cx="1014024" cy="6862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660399" y="0"/>
            <a:ext cx="10858500" cy="1028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>
              <a:defRPr/>
            </a:pPr>
            <a:r>
              <a:rPr lang="en-US" sz="2800" b="1" i="0" dirty="0" err="1" smtClean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适用对象</a:t>
            </a:r>
            <a:r>
              <a:rPr lang="zh-CN" altLang="en-US" sz="2800" b="1" i="0" dirty="0" smtClean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和</a:t>
            </a:r>
            <a:r>
              <a:rPr lang="zh-CN" altLang="en-US" sz="2800" b="1" dirty="0" smtClean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场景</a:t>
            </a:r>
            <a:endParaRPr lang="en-US" sz="2800" b="1" dirty="0">
              <a:ln/>
              <a:solidFill>
                <a:srgbClr val="000000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1" y="1182453"/>
            <a:ext cx="7200000" cy="2160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ln w="19050"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课程目标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1" y="3526511"/>
            <a:ext cx="7200000" cy="1085665"/>
          </a:xfrm>
          <a:prstGeom prst="roundRect">
            <a:avLst>
              <a:gd name="adj" fmla="val 0"/>
            </a:avLst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本课程旨在通过项目实践，引导学生在知识技能、过程方法、情感态度与价值观三个维度上获得全面发展，培养其成为具备计算思维和创新能力的未来人才。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ee14a81-d566-4c93-9f74-4a49dbe105a4"/>
          <p:cNvGrpSpPr/>
          <p:nvPr/>
        </p:nvGrpSpPr>
        <p:grpSpPr>
          <a:xfrm>
            <a:off x="660400" y="1130300"/>
            <a:ext cx="10858500" cy="4988460"/>
            <a:chOff x="660400" y="1130300"/>
            <a:chExt cx="10858500" cy="4988460"/>
          </a:xfrm>
        </p:grpSpPr>
        <p:sp>
          <p:nvSpPr>
            <p:cNvPr id="3" name="TextBox 3"/>
            <p:cNvSpPr txBox="1"/>
            <p:nvPr/>
          </p:nvSpPr>
          <p:spPr>
            <a:xfrm>
              <a:off x="679450" y="1130300"/>
              <a:ext cx="10833100" cy="102028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掌握AI与物联网核心技术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0400" y="2272165"/>
              <a:ext cx="2423878" cy="3841933"/>
              <a:chOff x="660400" y="2272165"/>
              <a:chExt cx="2041331" cy="3841933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0" y="3424427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0066E3">
                      <a:alpha val="100000"/>
                    </a:srgbClr>
                  </a:gs>
                  <a:gs pos="100000">
                    <a:srgbClr val="2BE1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660400" y="2272165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ln/>
                    <a:gradFill>
                      <a:gsLst>
                        <a:gs pos="0">
                          <a:srgbClr val="0066E3">
                            <a:alpha val="100000"/>
                          </a:srgbClr>
                        </a:gs>
                        <a:gs pos="100000">
                          <a:srgbClr val="2BE1FF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73100" y="3595453"/>
                <a:ext cx="2028631" cy="79700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掌握AI视觉识别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73100" y="4404828"/>
                <a:ext cx="2028631" cy="17092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掌握YOLOv8目标检测模型的安装、调用与基本推理流程，理解预训练模型的迁移应用</a:t>
                </a:r>
                <a:r>
                  <a:rPr 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r>
                  <a:rPr lang="zh-CN" alt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熟悉视觉大模型的调用和两者的区别。</a:t>
                </a:r>
                <a:endParaRPr lang="en-US" sz="1100" dirty="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3471941" y="2291056"/>
              <a:ext cx="2423878" cy="3819916"/>
              <a:chOff x="2864693" y="2291056"/>
              <a:chExt cx="2041331" cy="3819916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2864693" y="3427752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0066E3">
                      <a:alpha val="100000"/>
                    </a:srgbClr>
                  </a:gs>
                  <a:gs pos="100000">
                    <a:srgbClr val="2BE1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864693" y="3598471"/>
                <a:ext cx="2041331" cy="79398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掌握物联网控制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864693" y="229105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ln/>
                    <a:gradFill>
                      <a:gsLst>
                        <a:gs pos="0">
                          <a:srgbClr val="0066E3">
                            <a:alpha val="100000"/>
                          </a:srgbClr>
                        </a:gs>
                        <a:gs pos="100000">
                          <a:srgbClr val="2BE1FF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864693" y="4408172"/>
                <a:ext cx="2041331" cy="17028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掌握TinyTuya库控制涂鸦智能开关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/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插座的云端API调用方式</a:t>
                </a:r>
                <a:r>
                  <a:rPr 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</a:p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20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</a:rPr>
                  <a:t>用视觉识别结果来控制物联网设备。</a:t>
                </a:r>
                <a:endParaRPr lang="en-US" sz="1100" dirty="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283482" y="2304006"/>
              <a:ext cx="2423878" cy="3814754"/>
              <a:chOff x="5068985" y="2304006"/>
              <a:chExt cx="2041331" cy="3814754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5068985" y="3419928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0066E3">
                      <a:alpha val="100000"/>
                    </a:srgbClr>
                  </a:gs>
                  <a:gs pos="100000">
                    <a:srgbClr val="2BE1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068985" y="3583853"/>
                <a:ext cx="2041331" cy="79399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掌握云服务集成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068985" y="230400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ln/>
                    <a:gradFill>
                      <a:gsLst>
                        <a:gs pos="0">
                          <a:srgbClr val="0066E3">
                            <a:alpha val="100000"/>
                          </a:srgbClr>
                        </a:gs>
                        <a:gs pos="100000">
                          <a:srgbClr val="2BE1FF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068985" y="4393490"/>
                <a:ext cx="2041331" cy="17252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掌握阿里云或中国移动云短信服务的Python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SDK集成方法</a:t>
                </a:r>
                <a:r>
                  <a:rPr 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r>
                  <a:rPr lang="zh-CN" alt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企业微信智能机器人等的消息推送服务。</a:t>
                </a:r>
                <a:endParaRPr lang="en-US" sz="1100" dirty="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9095022" y="2257446"/>
              <a:ext cx="2423878" cy="3860284"/>
              <a:chOff x="7273278" y="2257446"/>
              <a:chExt cx="2041331" cy="3860284"/>
            </a:xfrm>
          </p:grpSpPr>
          <p:sp>
            <p:nvSpPr>
              <p:cNvPr id="20" name="AutoShape 20"/>
              <p:cNvSpPr/>
              <p:nvPr/>
            </p:nvSpPr>
            <p:spPr>
              <a:xfrm>
                <a:off x="7273278" y="3412103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0066E3">
                      <a:alpha val="100000"/>
                    </a:srgbClr>
                  </a:gs>
                  <a:gs pos="100000">
                    <a:srgbClr val="2BE1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273278" y="3582823"/>
                <a:ext cx="2041331" cy="79399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提升系统集成能力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273278" y="225744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ln/>
                    <a:gradFill>
                      <a:gsLst>
                        <a:gs pos="0">
                          <a:srgbClr val="0066E3">
                            <a:alpha val="100000"/>
                          </a:srgbClr>
                        </a:gs>
                        <a:gs pos="100000">
                          <a:srgbClr val="2BE1FF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273278" y="4392460"/>
                <a:ext cx="2041331" cy="17252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能够将多个独立功能模块整合为完整的系统解决方案</a:t>
                </a:r>
                <a:r>
                  <a:rPr 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r>
                  <a:rPr lang="zh-CN" alt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并且扩展完善整个智能校园系统。了解用</a:t>
                </a:r>
                <a:r>
                  <a:rPr lang="en-US" altLang="zh-CN" sz="1200" b="0" i="0" dirty="0" err="1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openclaw</a:t>
                </a:r>
                <a:r>
                  <a:rPr lang="zh-CN" alt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做系统集成</a:t>
                </a:r>
                <a:r>
                  <a:rPr lang="zh-CN" altLang="en-US" sz="120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的方法。</a:t>
                </a:r>
                <a:endParaRPr lang="en-US" sz="1100" dirty="0"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660399" y="0"/>
            <a:ext cx="10858500" cy="1028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知识技能目标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5891b37-f8c5-4e2a-a002-19f73ac3c539"/>
          <p:cNvGrpSpPr/>
          <p:nvPr/>
        </p:nvGrpSpPr>
        <p:grpSpPr>
          <a:xfrm>
            <a:off x="0" y="1130299"/>
            <a:ext cx="12192000" cy="5003804"/>
            <a:chOff x="0" y="1130299"/>
            <a:chExt cx="12192000" cy="5003804"/>
          </a:xfrm>
        </p:grpSpPr>
        <p:sp>
          <p:nvSpPr>
            <p:cNvPr id="3" name="AutoShape 3"/>
            <p:cNvSpPr/>
            <p:nvPr/>
          </p:nvSpPr>
          <p:spPr>
            <a:xfrm>
              <a:off x="0" y="3533213"/>
              <a:ext cx="12192000" cy="0"/>
            </a:xfrm>
            <a:prstGeom prst="line">
              <a:avLst/>
            </a:prstGeom>
            <a:ln w="25400">
              <a:gradFill>
                <a:gsLst>
                  <a:gs pos="0">
                    <a:srgbClr val="0066E3">
                      <a:alpha val="100000"/>
                    </a:srgbClr>
                  </a:gs>
                  <a:gs pos="100000">
                    <a:srgbClr val="0097FC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1">
              <a:off x="2364208" y="2828581"/>
              <a:ext cx="3577" cy="494025"/>
            </a:xfrm>
            <a:prstGeom prst="line">
              <a:avLst/>
            </a:prstGeom>
            <a:ln w="31750">
              <a:solidFill>
                <a:srgbClr val="305BF5">
                  <a:alpha val="100000"/>
                </a:srgbClr>
              </a:solidFill>
              <a:prstDash val="sysDot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1">
              <a:off x="660400" y="3646943"/>
              <a:ext cx="3407608" cy="2487158"/>
            </a:xfrm>
            <a:prstGeom prst="rect">
              <a:avLst/>
            </a:prstGeom>
            <a:gradFill>
              <a:gsLst>
                <a:gs pos="23999">
                  <a:srgbClr val="FFFFFF">
                    <a:alpha val="100000"/>
                  </a:srgbClr>
                </a:gs>
                <a:gs pos="100000">
                  <a:srgbClr val="FFFFFF">
                    <a:alpha val="61960"/>
                  </a:srgbClr>
                </a:gs>
              </a:gsLst>
              <a:lin ang="5400000"/>
            </a:gradFill>
            <a:ln w="25400">
              <a:gradFill>
                <a:gsLst>
                  <a:gs pos="0">
                    <a:srgbClr val="0066E3">
                      <a:alpha val="0"/>
                    </a:srgbClr>
                  </a:gs>
                  <a:gs pos="100000">
                    <a:srgbClr val="0066E3">
                      <a:alpha val="23921"/>
                    </a:srgbClr>
                  </a:gs>
                </a:gsLst>
                <a:lin ang="16200000"/>
              </a:gradFill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824663" y="2176615"/>
              <a:ext cx="3079091" cy="3680315"/>
              <a:chOff x="824663" y="2176615"/>
              <a:chExt cx="3079091" cy="3680315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824663" y="3958473"/>
                <a:ext cx="3079088" cy="54029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项目流程体验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24666" y="4590857"/>
                <a:ext cx="3079088" cy="12660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经历从需求分析、方案设计到模块开发、集成调试、展示评价的完整项目开发流程。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77213" y="2176615"/>
                <a:ext cx="2406648" cy="605035"/>
              </a:xfrm>
              <a:prstGeom prst="chevron">
                <a:avLst/>
              </a:prstGeom>
              <a:gradFill>
                <a:gsLst>
                  <a:gs pos="0">
                    <a:srgbClr val="0066E3">
                      <a:alpha val="100000"/>
                      <a:lumMod val="60000"/>
                      <a:lumOff val="40000"/>
                    </a:srgbClr>
                  </a:gs>
                  <a:gs pos="75000">
                    <a:srgbClr val="0066E3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2134418" y="3322606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66E3">
                      <a:alpha val="100000"/>
                      <a:lumMod val="60000"/>
                      <a:lumOff val="40000"/>
                    </a:srgbClr>
                  </a:gs>
                  <a:gs pos="75000">
                    <a:srgbClr val="0066E3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0066E3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1" name="AutoShape 11"/>
              <p:cNvSpPr/>
              <p:nvPr/>
            </p:nvSpPr>
            <p:spPr>
              <a:xfrm>
                <a:off x="2267938" y="3446872"/>
                <a:ext cx="192536" cy="211046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930" y="621"/>
                      <a:pt x="496420" y="111111"/>
                      <a:pt x="496420" y="248271"/>
                    </a:cubicBezTo>
                    <a:cubicBezTo>
                      <a:pt x="496420" y="358761"/>
                      <a:pt x="424030" y="452106"/>
                      <a:pt x="324017" y="484491"/>
                    </a:cubicBezTo>
                    <a:lnTo>
                      <a:pt x="346877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663" y="524496"/>
                    </a:lnTo>
                    <a:lnTo>
                      <a:pt x="173523" y="484491"/>
                    </a:lnTo>
                    <a:cubicBezTo>
                      <a:pt x="73510" y="453059"/>
                      <a:pt x="1120" y="358761"/>
                      <a:pt x="1120" y="248271"/>
                    </a:cubicBezTo>
                    <a:cubicBezTo>
                      <a:pt x="1120" y="111111"/>
                      <a:pt x="111610" y="621"/>
                      <a:pt x="248770" y="621"/>
                    </a:cubicBezTo>
                    <a:close/>
                    <a:moveTo>
                      <a:pt x="192573" y="489254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967" y="489254"/>
                    </a:lnTo>
                    <a:cubicBezTo>
                      <a:pt x="286870" y="493064"/>
                      <a:pt x="267820" y="495921"/>
                      <a:pt x="248770" y="495921"/>
                    </a:cubicBezTo>
                    <a:cubicBezTo>
                      <a:pt x="229720" y="495921"/>
                      <a:pt x="210670" y="493064"/>
                      <a:pt x="192573" y="489254"/>
                    </a:cubicBezTo>
                    <a:close/>
                    <a:moveTo>
                      <a:pt x="248770" y="143496"/>
                    </a:moveTo>
                    <a:cubicBezTo>
                      <a:pt x="190667" y="143496"/>
                      <a:pt x="143995" y="190169"/>
                      <a:pt x="143995" y="248271"/>
                    </a:cubicBezTo>
                    <a:cubicBezTo>
                      <a:pt x="143995" y="306374"/>
                      <a:pt x="190667" y="353046"/>
                      <a:pt x="248770" y="353046"/>
                    </a:cubicBezTo>
                    <a:cubicBezTo>
                      <a:pt x="306873" y="353046"/>
                      <a:pt x="353545" y="306374"/>
                      <a:pt x="353545" y="248271"/>
                    </a:cubicBezTo>
                    <a:cubicBezTo>
                      <a:pt x="353545" y="190169"/>
                      <a:pt x="306873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60213" y="114921"/>
                      <a:pt x="353545" y="121589"/>
                      <a:pt x="353545" y="129209"/>
                    </a:cubicBezTo>
                    <a:cubicBezTo>
                      <a:pt x="353545" y="136829"/>
                      <a:pt x="360213" y="143496"/>
                      <a:pt x="367833" y="143496"/>
                    </a:cubicBezTo>
                    <a:cubicBezTo>
                      <a:pt x="375452" y="143496"/>
                      <a:pt x="382120" y="136829"/>
                      <a:pt x="382120" y="129209"/>
                    </a:cubicBezTo>
                    <a:cubicBezTo>
                      <a:pt x="382120" y="121589"/>
                      <a:pt x="375452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12" name="AutoShape 12"/>
            <p:cNvSpPr/>
            <p:nvPr/>
          </p:nvSpPr>
          <p:spPr>
            <a:xfrm flipH="1">
              <a:off x="4385846" y="3646943"/>
              <a:ext cx="3407608" cy="2487158"/>
            </a:xfrm>
            <a:prstGeom prst="rect">
              <a:avLst/>
            </a:prstGeom>
            <a:gradFill>
              <a:gsLst>
                <a:gs pos="23999">
                  <a:srgbClr val="FFFFFF">
                    <a:alpha val="100000"/>
                  </a:srgbClr>
                </a:gs>
                <a:gs pos="100000">
                  <a:srgbClr val="FFFFFF">
                    <a:alpha val="61960"/>
                  </a:srgbClr>
                </a:gs>
              </a:gsLst>
              <a:lin ang="5400000"/>
            </a:gradFill>
            <a:ln w="25400">
              <a:gradFill>
                <a:gsLst>
                  <a:gs pos="0">
                    <a:srgbClr val="0066E3">
                      <a:alpha val="0"/>
                    </a:srgbClr>
                  </a:gs>
                  <a:gs pos="100000">
                    <a:srgbClr val="0066E3">
                      <a:alpha val="23921"/>
                    </a:srgbClr>
                  </a:gs>
                </a:gsLst>
                <a:lin ang="16200000"/>
              </a:gradFill>
              <a:prstDash val="solid"/>
              <a:headEnd type="none"/>
              <a:tailEnd type="none"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4550112" y="2176615"/>
              <a:ext cx="3079088" cy="3680315"/>
              <a:chOff x="4550112" y="2176615"/>
              <a:chExt cx="3079088" cy="3680315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4550112" y="3958473"/>
                <a:ext cx="3079088" cy="54029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团队协作能力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550112" y="4590857"/>
                <a:ext cx="3079088" cy="12660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在小组分工与协作中，培养团队协作能力与项目管理意识。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886329" y="2176615"/>
                <a:ext cx="2406648" cy="605035"/>
              </a:xfrm>
              <a:prstGeom prst="chevron">
                <a:avLst/>
              </a:prstGeom>
              <a:gradFill>
                <a:gsLst>
                  <a:gs pos="0">
                    <a:srgbClr val="2BE1FF">
                      <a:alpha val="100000"/>
                      <a:lumMod val="60000"/>
                      <a:lumOff val="40000"/>
                    </a:srgbClr>
                  </a:gs>
                  <a:gs pos="75000">
                    <a:srgbClr val="2BE1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7" name="AutoShape 17"/>
              <p:cNvSpPr/>
              <p:nvPr/>
            </p:nvSpPr>
            <p:spPr>
              <a:xfrm>
                <a:off x="5859864" y="3322606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2BE1FF">
                      <a:alpha val="100000"/>
                      <a:lumMod val="60000"/>
                      <a:lumOff val="40000"/>
                    </a:srgbClr>
                  </a:gs>
                  <a:gs pos="75000">
                    <a:srgbClr val="2BE1FF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2BE1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>
                <a:off x="5993384" y="3450575"/>
                <a:ext cx="192536" cy="203643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523875">
                    <a:moveTo>
                      <a:pt x="371955" y="621"/>
                    </a:moveTo>
                    <a:cubicBezTo>
                      <a:pt x="388148" y="621"/>
                      <a:pt x="400530" y="13004"/>
                      <a:pt x="400530" y="29196"/>
                    </a:cubicBezTo>
                    <a:lnTo>
                      <a:pt x="400530" y="133971"/>
                    </a:lnTo>
                    <a:cubicBezTo>
                      <a:pt x="400530" y="150164"/>
                      <a:pt x="388148" y="162546"/>
                      <a:pt x="371955" y="162546"/>
                    </a:cubicBez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19580" y="286371"/>
                    </a:lnTo>
                    <a:cubicBezTo>
                      <a:pt x="439583" y="286371"/>
                      <a:pt x="456727" y="302564"/>
                      <a:pt x="457680" y="322566"/>
                    </a:cubicBezTo>
                    <a:lnTo>
                      <a:pt x="457680" y="324471"/>
                    </a:lnTo>
                    <a:lnTo>
                      <a:pt x="457680" y="429246"/>
                    </a:lnTo>
                    <a:lnTo>
                      <a:pt x="476730" y="429246"/>
                    </a:lnTo>
                    <a:cubicBezTo>
                      <a:pt x="487208" y="429246"/>
                      <a:pt x="495780" y="437819"/>
                      <a:pt x="495780" y="448296"/>
                    </a:cubicBezTo>
                    <a:lnTo>
                      <a:pt x="495780" y="505446"/>
                    </a:lnTo>
                    <a:cubicBezTo>
                      <a:pt x="495780" y="515924"/>
                      <a:pt x="487208" y="524496"/>
                      <a:pt x="476730" y="524496"/>
                    </a:cubicBezTo>
                    <a:lnTo>
                      <a:pt x="419580" y="524496"/>
                    </a:lnTo>
                    <a:cubicBezTo>
                      <a:pt x="409102" y="524496"/>
                      <a:pt x="400530" y="515924"/>
                      <a:pt x="400530" y="505446"/>
                    </a:cubicBezTo>
                    <a:lnTo>
                      <a:pt x="400530" y="448296"/>
                    </a:lnTo>
                    <a:cubicBezTo>
                      <a:pt x="400530" y="437819"/>
                      <a:pt x="409102" y="429246"/>
                      <a:pt x="419580" y="429246"/>
                    </a:cubicBezTo>
                    <a:lnTo>
                      <a:pt x="438630" y="429246"/>
                    </a:lnTo>
                    <a:lnTo>
                      <a:pt x="438630" y="324471"/>
                    </a:lnTo>
                    <a:cubicBezTo>
                      <a:pt x="438630" y="313994"/>
                      <a:pt x="431010" y="306374"/>
                      <a:pt x="420533" y="305421"/>
                    </a:cubicBezTo>
                    <a:lnTo>
                      <a:pt x="41958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76705" y="429246"/>
                    </a:lnTo>
                    <a:cubicBezTo>
                      <a:pt x="287183" y="429246"/>
                      <a:pt x="295755" y="437819"/>
                      <a:pt x="295755" y="448296"/>
                    </a:cubicBezTo>
                    <a:lnTo>
                      <a:pt x="295755" y="505446"/>
                    </a:lnTo>
                    <a:cubicBezTo>
                      <a:pt x="295755" y="515924"/>
                      <a:pt x="287183" y="524496"/>
                      <a:pt x="276705" y="524496"/>
                    </a:cubicBezTo>
                    <a:lnTo>
                      <a:pt x="219555" y="524496"/>
                    </a:lnTo>
                    <a:cubicBezTo>
                      <a:pt x="209077" y="524496"/>
                      <a:pt x="200505" y="515924"/>
                      <a:pt x="200505" y="505446"/>
                    </a:cubicBezTo>
                    <a:lnTo>
                      <a:pt x="200505" y="448296"/>
                    </a:lnTo>
                    <a:cubicBezTo>
                      <a:pt x="200505" y="437819"/>
                      <a:pt x="209077" y="429246"/>
                      <a:pt x="219555" y="429246"/>
                    </a:cubicBez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76680" y="305421"/>
                    </a:lnTo>
                    <a:cubicBezTo>
                      <a:pt x="66202" y="305421"/>
                      <a:pt x="58583" y="313041"/>
                      <a:pt x="57630" y="323519"/>
                    </a:cubicBezTo>
                    <a:lnTo>
                      <a:pt x="57630" y="324471"/>
                    </a:lnTo>
                    <a:lnTo>
                      <a:pt x="57630" y="429246"/>
                    </a:lnTo>
                    <a:lnTo>
                      <a:pt x="76680" y="429246"/>
                    </a:lnTo>
                    <a:cubicBezTo>
                      <a:pt x="87158" y="429246"/>
                      <a:pt x="95730" y="437819"/>
                      <a:pt x="95730" y="448296"/>
                    </a:cubicBezTo>
                    <a:lnTo>
                      <a:pt x="95730" y="505446"/>
                    </a:lnTo>
                    <a:cubicBezTo>
                      <a:pt x="95730" y="515924"/>
                      <a:pt x="87158" y="524496"/>
                      <a:pt x="76680" y="524496"/>
                    </a:cubicBezTo>
                    <a:lnTo>
                      <a:pt x="19530" y="524496"/>
                    </a:lnTo>
                    <a:cubicBezTo>
                      <a:pt x="9052" y="524496"/>
                      <a:pt x="480" y="515924"/>
                      <a:pt x="480" y="505446"/>
                    </a:cubicBezTo>
                    <a:lnTo>
                      <a:pt x="480" y="448296"/>
                    </a:lnTo>
                    <a:cubicBezTo>
                      <a:pt x="480" y="437819"/>
                      <a:pt x="9052" y="429246"/>
                      <a:pt x="19530" y="429246"/>
                    </a:cubicBezTo>
                    <a:lnTo>
                      <a:pt x="38580" y="429246"/>
                    </a:lnTo>
                    <a:lnTo>
                      <a:pt x="38580" y="324471"/>
                    </a:lnTo>
                    <a:cubicBezTo>
                      <a:pt x="38580" y="304469"/>
                      <a:pt x="54773" y="287324"/>
                      <a:pt x="74775" y="286371"/>
                    </a:cubicBezTo>
                    <a:lnTo>
                      <a:pt x="766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124305" y="162546"/>
                    </a:lnTo>
                    <a:cubicBezTo>
                      <a:pt x="108112" y="162546"/>
                      <a:pt x="95730" y="150164"/>
                      <a:pt x="95730" y="133971"/>
                    </a:cubicBezTo>
                    <a:lnTo>
                      <a:pt x="95730" y="29196"/>
                    </a:lnTo>
                    <a:cubicBezTo>
                      <a:pt x="95730" y="13004"/>
                      <a:pt x="108112" y="621"/>
                      <a:pt x="124305" y="621"/>
                    </a:cubicBezTo>
                    <a:lnTo>
                      <a:pt x="371955" y="621"/>
                    </a:lnTo>
                    <a:close/>
                    <a:moveTo>
                      <a:pt x="148118" y="95871"/>
                    </a:moveTo>
                    <a:cubicBezTo>
                      <a:pt x="140498" y="95871"/>
                      <a:pt x="133830" y="102539"/>
                      <a:pt x="133830" y="110159"/>
                    </a:cubicBezTo>
                    <a:cubicBezTo>
                      <a:pt x="133830" y="117779"/>
                      <a:pt x="140498" y="124446"/>
                      <a:pt x="148118" y="124446"/>
                    </a:cubicBezTo>
                    <a:cubicBezTo>
                      <a:pt x="155737" y="124446"/>
                      <a:pt x="162405" y="117779"/>
                      <a:pt x="162405" y="110159"/>
                    </a:cubicBezTo>
                    <a:cubicBezTo>
                      <a:pt x="162405" y="102539"/>
                      <a:pt x="155737" y="95871"/>
                      <a:pt x="148118" y="9587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19" name="AutoShape 19"/>
            <p:cNvSpPr/>
            <p:nvPr/>
          </p:nvSpPr>
          <p:spPr>
            <a:xfrm>
              <a:off x="6116278" y="2828581"/>
              <a:ext cx="0" cy="494025"/>
            </a:xfrm>
            <a:prstGeom prst="line">
              <a:avLst/>
            </a:prstGeom>
            <a:ln w="31750">
              <a:solidFill>
                <a:srgbClr val="2BE1FF">
                  <a:alpha val="100000"/>
                </a:srgbClr>
              </a:solidFill>
              <a:prstDash val="sysDot"/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 flipH="1">
              <a:off x="8111292" y="3646945"/>
              <a:ext cx="3407608" cy="2487158"/>
            </a:xfrm>
            <a:prstGeom prst="rect">
              <a:avLst/>
            </a:prstGeom>
            <a:gradFill>
              <a:gsLst>
                <a:gs pos="23999">
                  <a:srgbClr val="FFFFFF">
                    <a:alpha val="100000"/>
                  </a:srgbClr>
                </a:gs>
                <a:gs pos="100000">
                  <a:srgbClr val="FFFFFF">
                    <a:alpha val="61960"/>
                  </a:srgbClr>
                </a:gs>
              </a:gsLst>
              <a:lin ang="5400000"/>
            </a:gradFill>
            <a:ln w="25400">
              <a:gradFill>
                <a:gsLst>
                  <a:gs pos="0">
                    <a:srgbClr val="0066E3">
                      <a:alpha val="0"/>
                    </a:srgbClr>
                  </a:gs>
                  <a:gs pos="100000">
                    <a:srgbClr val="0066E3">
                      <a:alpha val="23921"/>
                    </a:srgbClr>
                  </a:gs>
                </a:gsLst>
                <a:lin ang="16200000"/>
              </a:gradFill>
              <a:prstDash val="solid"/>
              <a:headEnd type="none"/>
              <a:tailEnd type="none"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8275558" y="2176615"/>
              <a:ext cx="3079088" cy="3680315"/>
              <a:chOff x="8275558" y="2176615"/>
              <a:chExt cx="3079088" cy="3680315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8275558" y="3958473"/>
                <a:ext cx="3079088" cy="54029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自主学习能力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275558" y="4590857"/>
                <a:ext cx="3079088" cy="12660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培养利用官方文档和开源社区资源解决技术问题的自主学习能力。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611775" y="2176615"/>
                <a:ext cx="2406648" cy="605035"/>
              </a:xfrm>
              <a:prstGeom prst="chevron">
                <a:avLst/>
              </a:prstGeom>
              <a:gradFill>
                <a:gsLst>
                  <a:gs pos="0">
                    <a:srgbClr val="0047BA">
                      <a:alpha val="100000"/>
                      <a:lumMod val="60000"/>
                      <a:lumOff val="40000"/>
                    </a:srgbClr>
                  </a:gs>
                  <a:gs pos="75000">
                    <a:srgbClr val="0047BA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25" name="AutoShape 25"/>
              <p:cNvSpPr/>
              <p:nvPr/>
            </p:nvSpPr>
            <p:spPr>
              <a:xfrm>
                <a:off x="9585312" y="3322606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47BA">
                      <a:alpha val="100000"/>
                      <a:lumMod val="60000"/>
                      <a:lumOff val="40000"/>
                    </a:srgbClr>
                  </a:gs>
                  <a:gs pos="75000">
                    <a:srgbClr val="0047BA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0047BA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6" name="AutoShape 26"/>
              <p:cNvSpPr/>
              <p:nvPr/>
            </p:nvSpPr>
            <p:spPr>
              <a:xfrm>
                <a:off x="9718832" y="3457847"/>
                <a:ext cx="192536" cy="189096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957" y="276846"/>
                      <a:pt x="372339" y="289229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2114"/>
                      <a:pt x="359957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171" y="524496"/>
                      <a:pt x="162789" y="512114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229"/>
                      <a:pt x="175171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4924"/>
                      <a:pt x="159932" y="152069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292" y="153021"/>
                      <a:pt x="390436" y="13682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882" y="114921"/>
                      <a:pt x="534264" y="127304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814"/>
                      <a:pt x="521882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894"/>
                      <a:pt x="375196" y="258749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836" y="257796"/>
                      <a:pt x="144692" y="273989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246" y="410196"/>
                      <a:pt x="864" y="397814"/>
                      <a:pt x="864" y="381621"/>
                    </a:cubicBezTo>
                    <a:lnTo>
                      <a:pt x="864" y="201599"/>
                    </a:lnTo>
                    <a:cubicBezTo>
                      <a:pt x="864" y="192074"/>
                      <a:pt x="4674" y="182549"/>
                      <a:pt x="11342" y="175881"/>
                    </a:cubicBezTo>
                    <a:lnTo>
                      <a:pt x="56109" y="127304"/>
                    </a:lnTo>
                    <a:cubicBezTo>
                      <a:pt x="63729" y="119684"/>
                      <a:pt x="73254" y="114921"/>
                      <a:pt x="8373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5207" y="172071"/>
                      <a:pt x="448539" y="178739"/>
                      <a:pt x="448539" y="186359"/>
                    </a:cubicBezTo>
                    <a:cubicBezTo>
                      <a:pt x="448539" y="193979"/>
                      <a:pt x="455207" y="200646"/>
                      <a:pt x="462827" y="200646"/>
                    </a:cubicBezTo>
                    <a:cubicBezTo>
                      <a:pt x="470446" y="200646"/>
                      <a:pt x="477114" y="193979"/>
                      <a:pt x="477114" y="186359"/>
                    </a:cubicBezTo>
                    <a:cubicBezTo>
                      <a:pt x="477114" y="178739"/>
                      <a:pt x="470446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957" y="621"/>
                      <a:pt x="372339" y="13004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589"/>
                      <a:pt x="359957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171" y="133971"/>
                      <a:pt x="162789" y="121589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004"/>
                      <a:pt x="175171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27" name="AutoShape 27"/>
            <p:cNvSpPr/>
            <p:nvPr/>
          </p:nvSpPr>
          <p:spPr>
            <a:xfrm flipH="1">
              <a:off x="9832113" y="2828581"/>
              <a:ext cx="1104" cy="494025"/>
            </a:xfrm>
            <a:prstGeom prst="line">
              <a:avLst/>
            </a:prstGeom>
            <a:ln w="31750">
              <a:solidFill>
                <a:srgbClr val="0047BA">
                  <a:alpha val="100000"/>
                </a:srgbClr>
              </a:solidFill>
              <a:prstDash val="sysDot"/>
              <a:headEnd type="none"/>
              <a:tailEnd type="none"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0400" y="1130299"/>
              <a:ext cx="10858500" cy="69385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经历完整项目开发流程</a:t>
              </a:r>
              <a:endParaRPr lang="en-US" sz="1100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60399" y="0"/>
            <a:ext cx="10858500" cy="1028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过程方法目标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b194fd9-beca-4084-a7ad-e1bde95d0479"/>
          <p:cNvGrpSpPr/>
          <p:nvPr/>
        </p:nvGrpSpPr>
        <p:grpSpPr>
          <a:xfrm>
            <a:off x="660400" y="1243980"/>
            <a:ext cx="10858500" cy="4370041"/>
            <a:chOff x="660400" y="1243980"/>
            <a:chExt cx="10858500" cy="4370041"/>
          </a:xfrm>
        </p:grpSpPr>
        <p:grpSp>
          <p:nvGrpSpPr>
            <p:cNvPr id="3" name="Group 3"/>
            <p:cNvGrpSpPr/>
            <p:nvPr/>
          </p:nvGrpSpPr>
          <p:grpSpPr>
            <a:xfrm>
              <a:off x="660400" y="2200109"/>
              <a:ext cx="10858500" cy="3413912"/>
              <a:chOff x="732760" y="2200109"/>
              <a:chExt cx="6430688" cy="3413912"/>
            </a:xfrm>
          </p:grpSpPr>
          <p:grpSp>
            <p:nvGrpSpPr>
              <p:cNvPr id="4" name="Group 4"/>
              <p:cNvGrpSpPr/>
              <p:nvPr/>
            </p:nvGrpSpPr>
            <p:grpSpPr>
              <a:xfrm>
                <a:off x="732760" y="2200109"/>
                <a:ext cx="2073146" cy="3413912"/>
                <a:chOff x="4763055" y="549649"/>
                <a:chExt cx="2574332" cy="4239230"/>
              </a:xfrm>
            </p:grpSpPr>
            <p:sp>
              <p:nvSpPr>
                <p:cNvPr id="5" name="AutoShape 5"/>
                <p:cNvSpPr/>
                <p:nvPr/>
              </p:nvSpPr>
              <p:spPr>
                <a:xfrm>
                  <a:off x="4841905" y="549649"/>
                  <a:ext cx="2495482" cy="4239230"/>
                </a:xfrm>
                <a:prstGeom prst="flowChartOffpageConnector">
                  <a:avLst/>
                </a:prstGeom>
                <a:solidFill>
                  <a:srgbClr val="0066E3">
                    <a:alpha val="2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6" name="TextBox 6"/>
                <p:cNvSpPr txBox="1"/>
                <p:nvPr/>
              </p:nvSpPr>
              <p:spPr>
                <a:xfrm>
                  <a:off x="4962201" y="1862929"/>
                  <a:ext cx="2254896" cy="100444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b="1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树立环保意识</a:t>
                  </a:r>
                  <a:endParaRPr lang="en-US" sz="1100"/>
                </a:p>
              </p:txBody>
            </p:sp>
            <p:sp>
              <p:nvSpPr>
                <p:cNvPr id="7" name="TextBox 7"/>
                <p:cNvSpPr txBox="1"/>
                <p:nvPr/>
              </p:nvSpPr>
              <p:spPr>
                <a:xfrm>
                  <a:off x="4962204" y="2975578"/>
                  <a:ext cx="2254897" cy="148762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200" b="0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通过分析校园能源浪费现象，树立节能减排的环保意识与社会责任感。</a:t>
                  </a:r>
                  <a:endParaRPr lang="en-US" sz="1100"/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4763055" y="759322"/>
                  <a:ext cx="2254901" cy="710913"/>
                </a:xfrm>
                <a:prstGeom prst="homePlate">
                  <a:avLst/>
                </a:prstGeom>
                <a:gradFill>
                  <a:gsLst>
                    <a:gs pos="0">
                      <a:srgbClr val="0066E3">
                        <a:alpha val="100000"/>
                        <a:lumMod val="60000"/>
                        <a:lumOff val="40000"/>
                      </a:srgbClr>
                    </a:gs>
                    <a:gs pos="75000">
                      <a:srgbClr val="0066E3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4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/>
                </a:p>
              </p:txBody>
            </p:sp>
          </p:grpSp>
          <p:grpSp>
            <p:nvGrpSpPr>
              <p:cNvPr id="9" name="Group 9"/>
              <p:cNvGrpSpPr/>
              <p:nvPr/>
            </p:nvGrpSpPr>
            <p:grpSpPr>
              <a:xfrm>
                <a:off x="2896079" y="2200109"/>
                <a:ext cx="2088597" cy="3413912"/>
                <a:chOff x="4743868" y="549649"/>
                <a:chExt cx="2593519" cy="4239230"/>
              </a:xfrm>
            </p:grpSpPr>
            <p:sp>
              <p:nvSpPr>
                <p:cNvPr id="10" name="AutoShape 10"/>
                <p:cNvSpPr/>
                <p:nvPr/>
              </p:nvSpPr>
              <p:spPr>
                <a:xfrm>
                  <a:off x="4841905" y="549649"/>
                  <a:ext cx="2495482" cy="4239230"/>
                </a:xfrm>
                <a:prstGeom prst="flowChartOffpageConnector">
                  <a:avLst/>
                </a:prstGeom>
                <a:solidFill>
                  <a:srgbClr val="2BE1FF">
                    <a:alpha val="2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4962204" y="1862929"/>
                  <a:ext cx="2254897" cy="100444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b="1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体会科技价值</a:t>
                  </a:r>
                  <a:endParaRPr lang="en-US" sz="1100"/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4962204" y="2975578"/>
                  <a:ext cx="2254897" cy="148762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200" b="0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体会科技解决实际问题的价值，激发利用技术进行创新的兴趣和热情。</a:t>
                  </a:r>
                  <a:endParaRPr lang="en-US" sz="1100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4743868" y="759322"/>
                  <a:ext cx="2254900" cy="710913"/>
                </a:xfrm>
                <a:prstGeom prst="homePlate">
                  <a:avLst/>
                </a:prstGeom>
                <a:gradFill>
                  <a:gsLst>
                    <a:gs pos="0">
                      <a:srgbClr val="2BE1FF">
                        <a:alpha val="100000"/>
                        <a:lumMod val="60000"/>
                        <a:lumOff val="40000"/>
                      </a:srgbClr>
                    </a:gs>
                    <a:gs pos="75000">
                      <a:srgbClr val="2BE1FF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4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</p:grpSp>
          <p:grpSp>
            <p:nvGrpSpPr>
              <p:cNvPr id="14" name="Group 14"/>
              <p:cNvGrpSpPr/>
              <p:nvPr/>
            </p:nvGrpSpPr>
            <p:grpSpPr>
              <a:xfrm>
                <a:off x="5074851" y="2200109"/>
                <a:ext cx="2088597" cy="3413912"/>
                <a:chOff x="4743868" y="549651"/>
                <a:chExt cx="2593519" cy="4239230"/>
              </a:xfrm>
            </p:grpSpPr>
            <p:sp>
              <p:nvSpPr>
                <p:cNvPr id="15" name="AutoShape 15"/>
                <p:cNvSpPr/>
                <p:nvPr/>
              </p:nvSpPr>
              <p:spPr>
                <a:xfrm>
                  <a:off x="4841905" y="549651"/>
                  <a:ext cx="2495482" cy="4239230"/>
                </a:xfrm>
                <a:prstGeom prst="flowChartOffpageConnector">
                  <a:avLst/>
                </a:prstGeom>
                <a:solidFill>
                  <a:srgbClr val="0047BA">
                    <a:alpha val="2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4962204" y="1862929"/>
                  <a:ext cx="2254897" cy="100444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b="1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培养项目式思维</a:t>
                  </a:r>
                  <a:endParaRPr lang="en-US" sz="1100"/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4962204" y="2975578"/>
                  <a:ext cx="2254897" cy="148762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200" b="0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在项目式学习的真实情境中培养“项目式思维”与综合问题解决能力。</a:t>
                  </a:r>
                  <a:endParaRPr lang="en-US" sz="1100"/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4743868" y="759322"/>
                  <a:ext cx="2254900" cy="710913"/>
                </a:xfrm>
                <a:prstGeom prst="homePlate">
                  <a:avLst/>
                </a:prstGeom>
                <a:gradFill>
                  <a:gsLst>
                    <a:gs pos="0">
                      <a:srgbClr val="0047BA">
                        <a:alpha val="100000"/>
                        <a:lumMod val="60000"/>
                        <a:lumOff val="40000"/>
                      </a:srgbClr>
                    </a:gs>
                    <a:gs pos="75000">
                      <a:srgbClr val="0047BA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4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/>
                </a:p>
              </p:txBody>
            </p:sp>
          </p:grpSp>
        </p:grpSp>
        <p:sp>
          <p:nvSpPr>
            <p:cNvPr id="19" name="TextBox 19"/>
            <p:cNvSpPr txBox="1"/>
            <p:nvPr/>
          </p:nvSpPr>
          <p:spPr>
            <a:xfrm>
              <a:off x="660400" y="1243980"/>
              <a:ext cx="10858500" cy="69385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树立环保意识与社会责任感</a:t>
              </a:r>
              <a:endParaRPr lang="en-US" sz="110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60399" y="0"/>
            <a:ext cx="10858500" cy="1028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情感态度目标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1" y="1182453"/>
            <a:ext cx="7200000" cy="2160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ln w="19050"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项目规划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1" y="3526511"/>
            <a:ext cx="7200000" cy="1085665"/>
          </a:xfrm>
          <a:prstGeom prst="roundRect">
            <a:avLst>
              <a:gd name="adj" fmla="val 0"/>
            </a:avLst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课程遵循项目式学习（PBL）的五大阶段，将整个项目流程化、可视化，确保学生在每个阶段都有明确的任务和可交付的成果，从而保障学习过程的可视化与可评估性。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23f6b8e-1c35-4ec8-a137-f4f64c05d7d8"/>
          <p:cNvGrpSpPr/>
          <p:nvPr/>
        </p:nvGrpSpPr>
        <p:grpSpPr>
          <a:xfrm>
            <a:off x="660399" y="1130304"/>
            <a:ext cx="10858501" cy="5003796"/>
            <a:chOff x="660399" y="1130304"/>
            <a:chExt cx="10858501" cy="5003796"/>
          </a:xfrm>
        </p:grpSpPr>
        <p:sp>
          <p:nvSpPr>
            <p:cNvPr id="3" name="AutoShape 3"/>
            <p:cNvSpPr/>
            <p:nvPr/>
          </p:nvSpPr>
          <p:spPr>
            <a:xfrm>
              <a:off x="1787076" y="3346423"/>
              <a:ext cx="2632524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4915441" y="3346423"/>
              <a:ext cx="2343596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7741405" y="3346423"/>
              <a:ext cx="2650819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60399" y="1130304"/>
              <a:ext cx="10858500" cy="137226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 dirty="0" err="1">
                  <a:ln/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PBL</a:t>
              </a:r>
              <a:r>
                <a:rPr lang="en-US" sz="2400" b="1" i="0" strike="noStrike" dirty="0" err="1" smtClean="0">
                  <a:ln/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项目式学习</a:t>
              </a:r>
              <a:r>
                <a:rPr lang="zh-CN" altLang="en-US" sz="2400" b="1" i="0" strike="noStrike" dirty="0" smtClean="0">
                  <a:ln/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过程</a:t>
              </a:r>
              <a:endParaRPr lang="en-US" sz="1100" dirty="0"/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660400" y="3105239"/>
              <a:ext cx="2405752" cy="3028861"/>
              <a:chOff x="402360" y="3105239"/>
              <a:chExt cx="2405752" cy="3028861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349069" y="3105239"/>
                <a:ext cx="482368" cy="482368"/>
              </a:xfrm>
              <a:prstGeom prst="roundRect">
                <a:avLst/>
              </a:prstGeom>
              <a:solidFill>
                <a:srgbClr val="0066E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02360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阶段一：项目启动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02360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1-2课时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明确项目目标与需求，完成项目计划书撰写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477983" y="3105239"/>
              <a:ext cx="2405752" cy="3028861"/>
              <a:chOff x="2643678" y="3105239"/>
              <a:chExt cx="2405752" cy="3028861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3598768" y="3105239"/>
                <a:ext cx="482368" cy="482368"/>
              </a:xfrm>
              <a:prstGeom prst="roundRect">
                <a:avLst/>
              </a:prstGeom>
              <a:solidFill>
                <a:srgbClr val="0066E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643678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阶段二：模块开发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43678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6-8课时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分模块进行代码编写与调试，产出各模块独立可运行的Python代码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295566" y="3105239"/>
              <a:ext cx="2405752" cy="3028861"/>
              <a:chOff x="4884996" y="3105239"/>
              <a:chExt cx="2405752" cy="3028861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5848467" y="3105239"/>
                <a:ext cx="482368" cy="482368"/>
              </a:xfrm>
              <a:prstGeom prst="roundRect">
                <a:avLst/>
              </a:prstGeom>
              <a:solidFill>
                <a:srgbClr val="0066E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884996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阶段三：系统集成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884996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2-4课时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整合各功能模块，进行联调测试，输出完整的系统源码及测试报告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9113148" y="3105239"/>
              <a:ext cx="2405752" cy="3028861"/>
              <a:chOff x="7126314" y="3105239"/>
              <a:chExt cx="2405752" cy="3028861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8098164" y="3105239"/>
                <a:ext cx="482368" cy="482368"/>
              </a:xfrm>
              <a:prstGeom prst="roundRect">
                <a:avLst/>
              </a:prstGeom>
              <a:solidFill>
                <a:srgbClr val="0066E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126314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阶段四：展示评价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126314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1-2课时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制作演示视频与PPT，进行项目汇报与总结反思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660399" y="0"/>
            <a:ext cx="10858500" cy="1028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阶段划分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1" y="1182453"/>
            <a:ext cx="7200000" cy="2160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ln w="19050"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阶段一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1" y="3526511"/>
            <a:ext cx="7200000" cy="1085665"/>
          </a:xfrm>
          <a:prstGeom prst="roundRect">
            <a:avLst>
              <a:gd name="adj" fmla="val 0"/>
            </a:avLst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项目启动与环境搭建。本阶段旨在明确项目目标，激发学生兴趣，并为后续开发搭建统一、稳定的软硬件环境，为项目的顺利进行奠定坚实基础。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1" y="1182453"/>
            <a:ext cx="7200000" cy="2160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ln w="19050"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阶段二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1" y="3526511"/>
            <a:ext cx="7200000" cy="1085665"/>
          </a:xfrm>
          <a:prstGeom prst="roundRect">
            <a:avLst>
              <a:gd name="adj" fmla="val 0"/>
            </a:avLst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三大模块并行开发</a:t>
            </a:r>
            <a:r>
              <a:rPr lang="en-US" sz="2000" b="0" i="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r>
              <a:rPr lang="en-US" sz="2000" b="0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本阶段是课程的核心实践环节，学生将分组并行开发AI识别、物联网控制、日志告警三大核心模块，</a:t>
            </a:r>
            <a:r>
              <a:rPr lang="en-US" sz="2000" b="0" i="0" dirty="0" err="1" smtClean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通过</a:t>
            </a:r>
            <a:r>
              <a:rPr lang="en-US" altLang="zh-CN" sz="2000" b="0" i="0" dirty="0" err="1" smtClean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lang="zh-CN" altLang="en-US" sz="2000" b="0" i="0" dirty="0" smtClean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辅助</a:t>
            </a:r>
            <a:r>
              <a:rPr lang="zh-CN" altLang="en-US" sz="2000" dirty="0" smtClean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编程</a:t>
            </a:r>
            <a:r>
              <a:rPr lang="en-US" sz="2000" b="0" i="0" dirty="0" err="1" smtClean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实现各自的功能</a:t>
            </a:r>
            <a:r>
              <a:rPr lang="en-US" sz="2000" b="0" i="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1" y="1182453"/>
            <a:ext cx="7200000" cy="2160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ln w="19050"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阶段三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1" y="3526511"/>
            <a:ext cx="7200000" cy="1085665"/>
          </a:xfrm>
          <a:prstGeom prst="roundRect">
            <a:avLst>
              <a:gd name="adj" fmla="val 0"/>
            </a:avLst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系统集成与测试</a:t>
            </a:r>
            <a:r>
              <a:rPr lang="en-US" sz="2000" b="0" i="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r>
              <a:rPr lang="en-US" sz="2000" b="0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本阶段旨在将各小组开发的独立模块整合为一个完整的、可协同工作的系统，并通过全面的测试确保其稳定性、可靠性和健壮性</a:t>
            </a:r>
            <a:r>
              <a:rPr lang="en-US" sz="2000" b="0" i="0" dirty="0" smtClean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r>
              <a:rPr lang="zh-CN" altLang="en-US" sz="2000" b="0" i="0" dirty="0" smtClean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了解用</a:t>
            </a:r>
            <a:r>
              <a:rPr lang="en-US" altLang="zh-CN" sz="2000" b="0" i="0" dirty="0" err="1" smtClean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openclaw</a:t>
            </a:r>
            <a:r>
              <a:rPr lang="zh-CN" altLang="en-US" sz="2000" b="0" i="0" dirty="0" smtClean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根据需求生成软件。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1" y="1182453"/>
            <a:ext cx="7200000" cy="2160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ln w="19050"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阶段四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1" y="3526511"/>
            <a:ext cx="7200000" cy="1085665"/>
          </a:xfrm>
          <a:prstGeom prst="roundRect">
            <a:avLst>
              <a:gd name="adj" fmla="val 0"/>
            </a:avLst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项目展示与评价。本阶段为学生提供一个展示项目成果、分享开发心得的舞台，并通过多维度的综合评价，促进学生的反思与成长。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1" y="1182453"/>
            <a:ext cx="7200000" cy="2160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ln w="19050"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教学资源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1" y="3526511"/>
            <a:ext cx="7200000" cy="1085665"/>
          </a:xfrm>
          <a:prstGeom prst="roundRect">
            <a:avLst>
              <a:gd name="adj" fmla="val 0"/>
            </a:avLst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为保障本课程的顺利实施，需提前准备相应的硬件、软件及账号资源。同时，提供分层教学建议与常见问题预案，以应对不同学生的学习需求和开发过程中的技术挑战。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907a899-b5bc-44e1-8150-492847ebdd49"/>
          <p:cNvGrpSpPr/>
          <p:nvPr/>
        </p:nvGrpSpPr>
        <p:grpSpPr>
          <a:xfrm>
            <a:off x="660400" y="1130300"/>
            <a:ext cx="10858500" cy="4482814"/>
            <a:chOff x="660400" y="1130300"/>
            <a:chExt cx="10858500" cy="4482814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70843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项目成果与价值回顾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73100" y="2394000"/>
              <a:ext cx="3494616" cy="3219114"/>
              <a:chOff x="673100" y="2394000"/>
              <a:chExt cx="3494616" cy="3219114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73100" y="2394000"/>
                <a:ext cx="3494616" cy="3219114"/>
              </a:xfrm>
              <a:prstGeom prst="roundRect">
                <a:avLst>
                  <a:gd name="adj" fmla="val 6684"/>
                </a:avLst>
              </a:prstGeom>
              <a:ln w="3175">
                <a:solidFill>
                  <a:srgbClr val="778495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29169" y="4170199"/>
                <a:ext cx="3182478" cy="133922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buFont typeface="+mj-lt"/>
                  <a:buAutoNum type="arabicPeriod"/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通过10学时的项目式学习，学生掌握了从需求分析到系统集成的完整开发流程，重点提升了AI视觉识别、物联网控制、云服务集成三项核心技术能力。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29169" y="3504967"/>
                <a:ext cx="3182478" cy="6652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技术能力提升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3068608" y="2463572"/>
                <a:ext cx="1041394" cy="1041394"/>
              </a:xfrm>
              <a:prstGeom prst="ellipse">
                <a:avLst/>
              </a:prstGeom>
              <a:solidFill>
                <a:srgbClr val="0066E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329078" y="2394000"/>
              <a:ext cx="3494616" cy="3219114"/>
              <a:chOff x="4329078" y="2394000"/>
              <a:chExt cx="3494616" cy="3219114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4329078" y="2394000"/>
                <a:ext cx="3494616" cy="3219114"/>
              </a:xfrm>
              <a:prstGeom prst="roundRect">
                <a:avLst>
                  <a:gd name="adj" fmla="val 6684"/>
                </a:avLst>
              </a:prstGeom>
              <a:ln w="3175">
                <a:solidFill>
                  <a:srgbClr val="778495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4485147" y="4170199"/>
                <a:ext cx="3182478" cy="133922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buFont typeface="+mj-lt"/>
                  <a:buAutoNum type="arabicPeriod"/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项目以真实问题驱动，跨学科融合，工程实践导向鲜明，有效提升了学生的系统集成能力与工程思维，实现了从理论知识到应用成果的转化。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85147" y="3504967"/>
                <a:ext cx="3182478" cy="6652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工程思维培养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724586" y="2463572"/>
                <a:ext cx="1041394" cy="1041394"/>
              </a:xfrm>
              <a:prstGeom prst="ellipse">
                <a:avLst/>
              </a:prstGeom>
              <a:solidFill>
                <a:srgbClr val="778495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024284" y="2394000"/>
              <a:ext cx="3494616" cy="3219114"/>
              <a:chOff x="8024284" y="2394000"/>
              <a:chExt cx="3494616" cy="3219114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8024284" y="2394000"/>
                <a:ext cx="3494616" cy="3219114"/>
              </a:xfrm>
              <a:prstGeom prst="roundRect">
                <a:avLst>
                  <a:gd name="adj" fmla="val 6684"/>
                </a:avLst>
              </a:prstGeom>
              <a:ln w="3175">
                <a:solidFill>
                  <a:srgbClr val="778495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180353" y="4170199"/>
                <a:ext cx="3182478" cy="133922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buFont typeface="+mj-lt"/>
                  <a:buAutoNum type="arabicPeriod"/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采用多元评价体系，过程与结果并重，促进了学生技术素养、团队协作能力与创新精神的全面发展。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180353" y="3504967"/>
                <a:ext cx="3182478" cy="6652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核心素养发展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419791" y="2463572"/>
                <a:ext cx="1041394" cy="1041394"/>
              </a:xfrm>
              <a:prstGeom prst="ellipse">
                <a:avLst/>
              </a:prstGeom>
              <a:solidFill>
                <a:srgbClr val="0066E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660399" y="0"/>
            <a:ext cx="10858500" cy="1028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课程总结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a4d7f5-5fef-452b-97d6-403bdb0e6b8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521</Words>
  <Application>Microsoft Office PowerPoint</Application>
  <PresentationFormat>自定义</PresentationFormat>
  <Paragraphs>114</Paragraphs>
  <Slides>17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18" baseType="lpstr">
      <vt:lpstr>aba4d7f5-5fef-452b-97d6-403bdb0e6b8a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cp:lastModifiedBy>Windows 用户</cp:lastModifiedBy>
  <cp:revision>28</cp:revision>
  <dcterms:created xsi:type="dcterms:W3CDTF">2006-08-16T00:00:00Z</dcterms:created>
  <dcterms:modified xsi:type="dcterms:W3CDTF">2026-04-25T15:17:20Z</dcterms:modified>
</cp:coreProperties>
</file>